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odttf" ContentType="application/vnd.openxmlformats-officedocument.obfuscatedFont"/>
  <Default Extension="png" ContentType="image/png"/>
  <Default Extension="rels" ContentType="application/vnd.openxmlformats-package.relationships+xml"/>
  <Default Extension="xml" ContentType="application/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2" Type="http://schemas.openxmlformats.org/officeDocument/2006/relationships/custom-properties" Target="docProps/custom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5143500" cx="9144000"/>
  <p:notesSz cx="6858000" cy="9144000"/>
  <p:embeddedFontLst>
    <p:embeddedFont>
      <p:font typeface="Raleway"/>
      <p:regular r:id="rId22"/>
      <p:bold r:id="rId23"/>
      <p:italic r:id="rId24"/>
      <p:boldItalic r:id="rId25"/>
    </p:embeddedFont>
    <p:embeddedFont>
      <p:font typeface="Inter"/>
      <p:bold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font" Target="fonts/Inter-bold.fntdata"/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1" Type="http://schemas.openxmlformats.org/officeDocument/2006/relationships/slide" Target="slides/slide16.xml"/><Relationship Id="rId3" Type="http://schemas.openxmlformats.org/officeDocument/2006/relationships/presProps" Target="presProps.xml"/><Relationship Id="rId25" Type="http://schemas.openxmlformats.org/officeDocument/2006/relationships/font" Target="fonts/Raleway-boldItalic.fntdata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0" Type="http://schemas.openxmlformats.org/officeDocument/2006/relationships/slide" Target="slides/slide15.xml"/><Relationship Id="rId2" Type="http://schemas.openxmlformats.org/officeDocument/2006/relationships/viewProps" Target="viewProps.xml"/><Relationship Id="rId16" Type="http://schemas.openxmlformats.org/officeDocument/2006/relationships/slide" Target="slides/slide11.xml"/><Relationship Id="rId29" Type="http://schemas.openxmlformats.org/officeDocument/2006/relationships/customXml" Target="../customXml/item2.xml"/><Relationship Id="rId24" Type="http://schemas.openxmlformats.org/officeDocument/2006/relationships/font" Target="fonts/Raleway-italic.fntdata"/><Relationship Id="rId1" Type="http://schemas.openxmlformats.org/officeDocument/2006/relationships/theme" Target="theme/theme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3" Type="http://schemas.openxmlformats.org/officeDocument/2006/relationships/font" Target="fonts/Raleway-bold.fntdata"/><Relationship Id="rId5" Type="http://schemas.openxmlformats.org/officeDocument/2006/relationships/notesMaster" Target="notesMasters/notesMaster1.xml"/><Relationship Id="rId15" Type="http://schemas.openxmlformats.org/officeDocument/2006/relationships/slide" Target="slides/slide10.xml"/><Relationship Id="rId28" Type="http://schemas.openxmlformats.org/officeDocument/2006/relationships/customXml" Target="../customXml/item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22" Type="http://schemas.openxmlformats.org/officeDocument/2006/relationships/font" Target="fonts/Raleway-regular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7" Type="http://schemas.openxmlformats.org/officeDocument/2006/relationships/font" Target="fonts/Inter-boldItalic.fntdata"/><Relationship Id="rId14" Type="http://schemas.openxmlformats.org/officeDocument/2006/relationships/slide" Target="slides/slide9.xml"/><Relationship Id="rId30" Type="http://schemas.openxmlformats.org/officeDocument/2006/relationships/customXml" Target="../customXml/item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f933bf6b4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f933bf6b4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f5745a02d6_0_5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f5745a02d6_0_5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f933bf6b49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f933bf6b49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■"/>
            </a:pPr>
            <a:r>
              <a:rPr lang="en" sz="1300">
                <a:solidFill>
                  <a:schemeClr val="dk1"/>
                </a:solidFill>
              </a:rPr>
              <a:t>Critical conversation with AI s</a:t>
            </a:r>
            <a:r>
              <a:rPr lang="en" sz="1300">
                <a:solidFill>
                  <a:schemeClr val="dk1"/>
                </a:solidFill>
              </a:rPr>
              <a:t>upports critical thinking if used to generate counterarguments &amp; questions, not supporting arguments and answers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f933bf6b49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f933bf6b49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f5745a02d6_0_7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f5745a02d6_0_7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f933bf6b49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f933bf6b49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f933bf6b49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f933bf6b49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" sz="1800">
                <a:solidFill>
                  <a:schemeClr val="dk1"/>
                </a:solidFill>
              </a:rPr>
              <a:t>Well-scaffolded, dialogic AI adapted for individual learners can increase learning and self-efficacy, especially in the sciences; however, unguided use of chatbots does not (cite: 31, 32)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f5745a02d6_0_6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f5745a02d6_0_6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" sz="1800">
                <a:solidFill>
                  <a:schemeClr val="dk1"/>
                </a:solidFill>
              </a:rPr>
              <a:t>Well-scaffolded, dialogic AI adapted for individual learners can increase learning and self-efficacy, especially in the sciences; however, unguided use of chatbots does not (cite: 31, 32)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f5745a02d6_0_6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f5745a02d6_0_6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" sz="1800">
                <a:solidFill>
                  <a:schemeClr val="dk1"/>
                </a:solidFill>
              </a:rPr>
              <a:t>Well-scaffolded, dialogic AI adapted for individual learners can increase learning and self-efficacy, especially in the sciences; however, unguided use of chatbots does not (cite: 31, 32)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f5745a02d6_0_6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f5745a02d6_0_6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" sz="1800">
                <a:solidFill>
                  <a:schemeClr val="dk1"/>
                </a:solidFill>
              </a:rPr>
              <a:t>Well-scaffolded, dialogic AI adapted for individual learners can increase learning and self-efficacy, especially in the sciences; however, unguided use of chatbots does not (cite: 31, 32)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f5745a02d6_0_7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f5745a02d6_0_7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f5745a02d6_0_7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f5745a02d6_0_7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f933bf6b49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f933bf6b49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f933bf6b49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3f933bf6b49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f5745a02d6_0_7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3f5745a02d6_0_7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jpg"/><Relationship Id="rId4" Type="http://schemas.openxmlformats.org/officeDocument/2006/relationships/image" Target="../media/image8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9.png"/><Relationship Id="rId5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5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0" y="507550"/>
            <a:ext cx="8520600" cy="2364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Balancing In-Person vs. Computer-Based &amp; AI Experiences in Education</a:t>
            </a:r>
            <a:endParaRPr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63775" y="3448600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aleway"/>
                <a:ea typeface="Raleway"/>
                <a:cs typeface="Raleway"/>
                <a:sym typeface="Raleway"/>
              </a:rPr>
              <a:t>S. Emlen Metz</a:t>
            </a:r>
            <a:endParaRPr>
              <a:solidFill>
                <a:schemeClr val="accent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aleway"/>
                <a:ea typeface="Raleway"/>
                <a:cs typeface="Raleway"/>
                <a:sym typeface="Raleway"/>
              </a:rPr>
              <a:t>University of California, Berkeley</a:t>
            </a:r>
            <a:endParaRPr>
              <a:solidFill>
                <a:schemeClr val="accent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Roadmap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Contrast of Virtual to Real Environments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Affordances of genAI in Education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Dangers of Computers &amp; AI in Education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Challenges in Adaptation to genAI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Best Uses of genAI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Guiding Principles for Education in AI Era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Recommendations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Discussion Questions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441600" y="271825"/>
            <a:ext cx="8520600" cy="572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9525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Virtual vs. Real</a:t>
            </a:r>
            <a:endParaRPr b="1" i="0" sz="2600">
              <a:solidFill>
                <a:srgbClr val="0F172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15"/>
          <p:cNvSpPr/>
          <p:nvPr/>
        </p:nvSpPr>
        <p:spPr>
          <a:xfrm>
            <a:off x="311700" y="1479700"/>
            <a:ext cx="2769000" cy="3314400"/>
          </a:xfrm>
          <a:prstGeom prst="rect">
            <a:avLst/>
          </a:prstGeom>
          <a:solidFill>
            <a:srgbClr val="CFE2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Opens possibilities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Adaptable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Easier to control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Easier to observe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But: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Removed from reality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Removed from other people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Shallower sensory &amp; embodied experiences</a:t>
            </a:r>
            <a:endParaRPr/>
          </a:p>
        </p:txBody>
      </p:sp>
      <p:sp>
        <p:nvSpPr>
          <p:cNvPr id="68" name="Google Shape;68;p15"/>
          <p:cNvSpPr txBox="1"/>
          <p:nvPr/>
        </p:nvSpPr>
        <p:spPr>
          <a:xfrm>
            <a:off x="513825" y="1003300"/>
            <a:ext cx="29730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Virtual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69" name="Google Shape;69;p15"/>
          <p:cNvSpPr txBox="1"/>
          <p:nvPr/>
        </p:nvSpPr>
        <p:spPr>
          <a:xfrm>
            <a:off x="5989200" y="923913"/>
            <a:ext cx="29730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Real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70" name="Google Shape;70;p15"/>
          <p:cNvSpPr/>
          <p:nvPr/>
        </p:nvSpPr>
        <p:spPr>
          <a:xfrm>
            <a:off x="5757150" y="1479700"/>
            <a:ext cx="3167700" cy="3314400"/>
          </a:xfrm>
          <a:prstGeom prst="rect">
            <a:avLst/>
          </a:prstGeom>
          <a:solidFill>
            <a:srgbClr val="D0E0E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Real objects to explore by hand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Real people to collaborate with face-to-face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Full sensory &amp; </a:t>
            </a:r>
            <a:r>
              <a:rPr lang="en"/>
              <a:t>embodied</a:t>
            </a:r>
            <a:r>
              <a:rPr lang="en"/>
              <a:t> experiences possible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But: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Limited by available materials &amp; spaces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Results of labs &amp; social interactions are unpredictable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Typically poor teacher-student ratio</a:t>
            </a:r>
            <a:endParaRPr/>
          </a:p>
        </p:txBody>
      </p:sp>
      <p:pic>
        <p:nvPicPr>
          <p:cNvPr id="71" name="Google Shape;71;p15" title="download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80700" y="3384400"/>
            <a:ext cx="2095500" cy="1409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2" name="Google Shape;72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54150" y="1503350"/>
            <a:ext cx="2095498" cy="15716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9525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Affordances of Computers &amp; genAI in Education</a:t>
            </a:r>
            <a:endParaRPr b="1" sz="2600">
              <a:solidFill>
                <a:srgbClr val="0F172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8" name="Google Shape;78;p16"/>
          <p:cNvGrpSpPr/>
          <p:nvPr/>
        </p:nvGrpSpPr>
        <p:grpSpPr>
          <a:xfrm>
            <a:off x="571500" y="1238250"/>
            <a:ext cx="8286900" cy="3524400"/>
            <a:chOff x="571500" y="1238250"/>
            <a:chExt cx="8286900" cy="3524400"/>
          </a:xfrm>
        </p:grpSpPr>
        <p:sp>
          <p:nvSpPr>
            <p:cNvPr id="79" name="Google Shape;79;p16"/>
            <p:cNvSpPr/>
            <p:nvPr/>
          </p:nvSpPr>
          <p:spPr>
            <a:xfrm>
              <a:off x="571500" y="1238250"/>
              <a:ext cx="2571900" cy="3524400"/>
            </a:xfrm>
            <a:prstGeom prst="roundRect">
              <a:avLst>
                <a:gd fmla="val 5925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80" name="Google Shape;80;p1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71500" y="1238250"/>
              <a:ext cx="2571900" cy="1905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1" name="Google Shape;81;p16"/>
            <p:cNvSpPr txBox="1"/>
            <p:nvPr/>
          </p:nvSpPr>
          <p:spPr>
            <a:xfrm>
              <a:off x="762000" y="1619250"/>
              <a:ext cx="2190900" cy="295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Personalization</a:t>
              </a:r>
              <a:endParaRPr b="1" sz="18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t/>
              </a:r>
              <a:endParaRPr b="0" i="1" sz="105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307975" lvl="0" marL="457200" rtl="0" algn="l">
                <a:spcBef>
                  <a:spcPts val="1500"/>
                </a:spcBef>
                <a:spcAft>
                  <a:spcPts val="0"/>
                </a:spcAft>
                <a:buClr>
                  <a:srgbClr val="334155"/>
                </a:buClr>
                <a:buSzPts val="1250"/>
                <a:buFont typeface="Inter"/>
                <a:buChar char="●"/>
              </a:pPr>
              <a:r>
                <a:rPr b="0" lang="en" sz="125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Individualized start</a:t>
              </a:r>
              <a:endParaRPr b="0" sz="125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307975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334155"/>
                </a:buClr>
                <a:buSzPts val="1250"/>
                <a:buFont typeface="Inter"/>
                <a:buChar char="●"/>
              </a:pPr>
              <a:r>
                <a:rPr b="0" lang="en" sz="125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Individualized pace</a:t>
              </a:r>
              <a:endParaRPr b="0" sz="125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307975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334155"/>
                </a:buClr>
                <a:buSzPts val="1250"/>
                <a:buFont typeface="Inter"/>
                <a:buChar char="●"/>
              </a:pPr>
              <a:r>
                <a:rPr b="0" lang="en" sz="125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Performance tracking</a:t>
              </a:r>
              <a:endParaRPr b="0" sz="125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307975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334155"/>
                </a:buClr>
                <a:buSzPts val="1250"/>
                <a:buFont typeface="Inter"/>
                <a:buChar char="●"/>
              </a:pPr>
              <a:r>
                <a:rPr b="0" lang="en" sz="125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Reading level translation </a:t>
              </a:r>
              <a:endParaRPr b="0" sz="125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82" name="Google Shape;82;p16"/>
            <p:cNvSpPr/>
            <p:nvPr/>
          </p:nvSpPr>
          <p:spPr>
            <a:xfrm>
              <a:off x="3429000" y="1238250"/>
              <a:ext cx="2571900" cy="3524400"/>
            </a:xfrm>
            <a:prstGeom prst="roundRect">
              <a:avLst>
                <a:gd fmla="val 5925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83" name="Google Shape;83;p1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429000" y="1238250"/>
              <a:ext cx="2571900" cy="1905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4" name="Google Shape;84;p16"/>
            <p:cNvSpPr txBox="1"/>
            <p:nvPr/>
          </p:nvSpPr>
          <p:spPr>
            <a:xfrm>
              <a:off x="3619500" y="1619250"/>
              <a:ext cx="2190900" cy="295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Flexibility</a:t>
              </a:r>
              <a:endParaRPr b="1" sz="18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t/>
              </a:r>
              <a:endParaRPr b="0" i="1" sz="105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307975" lvl="0" marL="457200" rtl="0" algn="l">
                <a:spcBef>
                  <a:spcPts val="1500"/>
                </a:spcBef>
                <a:spcAft>
                  <a:spcPts val="0"/>
                </a:spcAft>
                <a:buClr>
                  <a:srgbClr val="334155"/>
                </a:buClr>
                <a:buSzPts val="1250"/>
                <a:buFont typeface="Inter"/>
                <a:buChar char="●"/>
              </a:pPr>
              <a:r>
                <a:rPr b="0" lang="en" sz="125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Of time and space</a:t>
              </a:r>
              <a:endParaRPr b="0" sz="125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307975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334155"/>
                </a:buClr>
                <a:buSzPts val="1250"/>
                <a:buFont typeface="Inter"/>
                <a:buChar char="●"/>
              </a:pPr>
              <a:r>
                <a:rPr b="0" lang="en" sz="125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Modified systems for students with disabilities</a:t>
              </a:r>
              <a:endParaRPr b="0" sz="125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307975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334155"/>
                </a:buClr>
                <a:buSzPts val="1250"/>
                <a:buFont typeface="Inter"/>
                <a:buChar char="●"/>
              </a:pPr>
              <a:r>
                <a:rPr b="0" lang="en" sz="125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Of learning pathways</a:t>
              </a:r>
              <a:endParaRPr b="0" sz="125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85" name="Google Shape;85;p16"/>
            <p:cNvSpPr/>
            <p:nvPr/>
          </p:nvSpPr>
          <p:spPr>
            <a:xfrm>
              <a:off x="6286500" y="1238250"/>
              <a:ext cx="2571900" cy="3524400"/>
            </a:xfrm>
            <a:prstGeom prst="roundRect">
              <a:avLst>
                <a:gd fmla="val 5925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86" name="Google Shape;86;p1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6286500" y="1238250"/>
              <a:ext cx="2571900" cy="1905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7" name="Google Shape;87;p16"/>
            <p:cNvSpPr txBox="1"/>
            <p:nvPr/>
          </p:nvSpPr>
          <p:spPr>
            <a:xfrm>
              <a:off x="6477000" y="1619250"/>
              <a:ext cx="2190900" cy="295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Teacher Aid</a:t>
              </a:r>
              <a:endParaRPr b="1" sz="18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t/>
              </a:r>
              <a:endParaRPr b="0" i="1" sz="105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307975" lvl="0" marL="457200" rtl="0" algn="l">
                <a:spcBef>
                  <a:spcPts val="1500"/>
                </a:spcBef>
                <a:spcAft>
                  <a:spcPts val="0"/>
                </a:spcAft>
                <a:buClr>
                  <a:srgbClr val="334155"/>
                </a:buClr>
                <a:buSzPts val="1250"/>
                <a:buFont typeface="Inter"/>
                <a:buChar char="●"/>
              </a:pPr>
              <a:r>
                <a:rPr b="0" lang="en" sz="125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Auto-scoring</a:t>
              </a:r>
              <a:endParaRPr b="0" sz="125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307975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334155"/>
                </a:buClr>
                <a:buSzPts val="1250"/>
                <a:buFont typeface="Inter"/>
                <a:buChar char="●"/>
              </a:pPr>
              <a:r>
                <a:rPr b="0" lang="en" sz="125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Rapid feedback on writing </a:t>
              </a:r>
              <a:r>
                <a:rPr b="1" lang="en" sz="1150">
                  <a:solidFill>
                    <a:srgbClr val="10B981"/>
                  </a:solidFill>
                  <a:latin typeface="Inter"/>
                  <a:ea typeface="Inter"/>
                  <a:cs typeface="Inter"/>
                  <a:sym typeface="Inter"/>
                </a:rPr>
                <a:t>(genAI)</a:t>
              </a:r>
              <a:endParaRPr b="0" sz="125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307975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334155"/>
                </a:buClr>
                <a:buSzPts val="1250"/>
                <a:buFont typeface="Inter"/>
                <a:buChar char="●"/>
              </a:pPr>
              <a:r>
                <a:rPr b="0" lang="en" sz="125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Faster materials </a:t>
              </a:r>
              <a:r>
                <a:rPr b="1" lang="en" sz="1150">
                  <a:solidFill>
                    <a:srgbClr val="10B981"/>
                  </a:solidFill>
                  <a:latin typeface="Inter"/>
                  <a:ea typeface="Inter"/>
                  <a:cs typeface="Inter"/>
                  <a:sym typeface="Inter"/>
                </a:rPr>
                <a:t>(genAI)</a:t>
              </a:r>
              <a:endParaRPr b="0" sz="125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7"/>
          <p:cNvSpPr txBox="1"/>
          <p:nvPr>
            <p:ph type="title"/>
          </p:nvPr>
        </p:nvSpPr>
        <p:spPr>
          <a:xfrm>
            <a:off x="311700" y="3764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Dangers of AI in Education</a:t>
            </a:r>
            <a:endParaRPr b="1"/>
          </a:p>
        </p:txBody>
      </p:sp>
      <p:sp>
        <p:nvSpPr>
          <p:cNvPr id="93" name="Google Shape;93;p17"/>
          <p:cNvSpPr txBox="1"/>
          <p:nvPr>
            <p:ph idx="1" type="body"/>
          </p:nvPr>
        </p:nvSpPr>
        <p:spPr>
          <a:xfrm>
            <a:off x="311700" y="1017725"/>
            <a:ext cx="8520600" cy="361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700">
                <a:solidFill>
                  <a:schemeClr val="dk1"/>
                </a:solidFill>
              </a:rPr>
              <a:t>Social Erosion</a:t>
            </a:r>
            <a:endParaRPr b="1" i="1"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17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Motivation (Kapur, Sharkey, &amp; Ren, 2026)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Trust between student and teacher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Academic integrity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Social connectedness </a:t>
            </a:r>
            <a:endParaRPr sz="1700">
              <a:solidFill>
                <a:schemeClr val="dk1"/>
              </a:solidFill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pic>
        <p:nvPicPr>
          <p:cNvPr id="94" name="Google Shape;94;p17" title="images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88425" y="0"/>
            <a:ext cx="3206750" cy="320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8"/>
          <p:cNvSpPr txBox="1"/>
          <p:nvPr>
            <p:ph type="title"/>
          </p:nvPr>
        </p:nvSpPr>
        <p:spPr>
          <a:xfrm>
            <a:off x="311700" y="3764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Dangers of AI in Education</a:t>
            </a:r>
            <a:endParaRPr b="1"/>
          </a:p>
        </p:txBody>
      </p:sp>
      <p:sp>
        <p:nvSpPr>
          <p:cNvPr id="100" name="Google Shape;100;p18"/>
          <p:cNvSpPr txBox="1"/>
          <p:nvPr>
            <p:ph idx="1" type="body"/>
          </p:nvPr>
        </p:nvSpPr>
        <p:spPr>
          <a:xfrm>
            <a:off x="311700" y="1017725"/>
            <a:ext cx="8520600" cy="361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700">
                <a:solidFill>
                  <a:schemeClr val="dk1"/>
                </a:solidFill>
              </a:rPr>
              <a:t>Social Erosion</a:t>
            </a:r>
            <a:endParaRPr b="1" i="1"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1700">
              <a:solidFill>
                <a:schemeClr val="dk1"/>
              </a:solidFill>
            </a:endParaRPr>
          </a:p>
          <a:p>
            <a:pPr indent="-328454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700">
                <a:solidFill>
                  <a:schemeClr val="dk1"/>
                </a:solidFill>
              </a:rPr>
              <a:t>Trust between student and teacher</a:t>
            </a:r>
            <a:endParaRPr sz="1700">
              <a:solidFill>
                <a:schemeClr val="dk1"/>
              </a:solidFill>
            </a:endParaRPr>
          </a:p>
          <a:p>
            <a:pPr indent="-328454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700">
                <a:solidFill>
                  <a:schemeClr val="dk1"/>
                </a:solidFill>
              </a:rPr>
              <a:t>Academic integrity</a:t>
            </a:r>
            <a:endParaRPr sz="1700">
              <a:solidFill>
                <a:schemeClr val="dk1"/>
              </a:solidFill>
            </a:endParaRPr>
          </a:p>
          <a:p>
            <a:pPr indent="-328454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700">
                <a:solidFill>
                  <a:schemeClr val="dk1"/>
                </a:solidFill>
              </a:rPr>
              <a:t>Motivation (Kapur, Sharkey, &amp; Ren, 2026)</a:t>
            </a:r>
            <a:endParaRPr sz="1700">
              <a:solidFill>
                <a:schemeClr val="dk1"/>
              </a:solidFill>
            </a:endParaRPr>
          </a:p>
          <a:p>
            <a:pPr indent="-328454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700">
                <a:solidFill>
                  <a:schemeClr val="dk1"/>
                </a:solidFill>
              </a:rPr>
              <a:t>Social connectedness </a:t>
            </a:r>
            <a:endParaRPr sz="1700">
              <a:solidFill>
                <a:schemeClr val="dk1"/>
              </a:solidFill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700">
                <a:solidFill>
                  <a:schemeClr val="dk1"/>
                </a:solidFill>
              </a:rPr>
              <a:t>Cognitive Erosion</a:t>
            </a:r>
            <a:endParaRPr b="1" i="1"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1700">
              <a:solidFill>
                <a:schemeClr val="dk1"/>
              </a:solidFill>
            </a:endParaRPr>
          </a:p>
          <a:p>
            <a:pPr indent="-328454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700">
                <a:solidFill>
                  <a:schemeClr val="dk1"/>
                </a:solidFill>
              </a:rPr>
              <a:t>Literacy</a:t>
            </a:r>
            <a:endParaRPr sz="1700">
              <a:solidFill>
                <a:schemeClr val="dk1"/>
              </a:solidFill>
            </a:endParaRPr>
          </a:p>
          <a:p>
            <a:pPr indent="-328454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700">
                <a:solidFill>
                  <a:schemeClr val="dk1"/>
                </a:solidFill>
              </a:rPr>
              <a:t>Cognitive offloading</a:t>
            </a:r>
            <a:endParaRPr sz="1700">
              <a:solidFill>
                <a:schemeClr val="dk1"/>
              </a:solidFill>
            </a:endParaRPr>
          </a:p>
          <a:p>
            <a:pPr indent="-328454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700">
                <a:solidFill>
                  <a:schemeClr val="dk1"/>
                </a:solidFill>
              </a:rPr>
              <a:t>Critical thinking</a:t>
            </a:r>
            <a:endParaRPr sz="1700">
              <a:solidFill>
                <a:schemeClr val="dk1"/>
              </a:solidFill>
            </a:endParaRPr>
          </a:p>
          <a:p>
            <a:pPr indent="-310832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82353"/>
              <a:buChar char="○"/>
            </a:pPr>
            <a:r>
              <a:rPr i="1" lang="en" sz="1700">
                <a:solidFill>
                  <a:schemeClr val="dk1"/>
                </a:solidFill>
              </a:rPr>
              <a:t>exacerbated </a:t>
            </a:r>
            <a:r>
              <a:rPr lang="en" sz="1700">
                <a:solidFill>
                  <a:schemeClr val="dk1"/>
                </a:solidFill>
              </a:rPr>
              <a:t>by technophilia and technological self-efficacy</a:t>
            </a:r>
            <a:endParaRPr sz="1700">
              <a:solidFill>
                <a:schemeClr val="dk1"/>
              </a:solidFill>
            </a:endParaRPr>
          </a:p>
          <a:p>
            <a:pPr indent="-310832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82353"/>
              <a:buChar char="○"/>
            </a:pPr>
            <a:r>
              <a:rPr lang="en" sz="1700">
                <a:solidFill>
                  <a:schemeClr val="dk1"/>
                </a:solidFill>
              </a:rPr>
              <a:t>experience with AI and prior academic standing do not necessarily help</a:t>
            </a:r>
            <a:endParaRPr sz="1700">
              <a:solidFill>
                <a:schemeClr val="dk1"/>
              </a:solidFill>
            </a:endParaRPr>
          </a:p>
          <a:p>
            <a:pPr indent="-328454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700">
                <a:solidFill>
                  <a:schemeClr val="dk1"/>
                </a:solidFill>
              </a:rPr>
              <a:t>False sense of understanding (Nygren et al., 2026)</a:t>
            </a:r>
            <a:endParaRPr sz="1900"/>
          </a:p>
        </p:txBody>
      </p:sp>
      <p:pic>
        <p:nvPicPr>
          <p:cNvPr id="101" name="Google Shape;101;p18" title="ms_f1-1024x68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7448" y="129886"/>
            <a:ext cx="4280776" cy="2876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9"/>
          <p:cNvGrpSpPr/>
          <p:nvPr/>
        </p:nvGrpSpPr>
        <p:grpSpPr>
          <a:xfrm>
            <a:off x="333375" y="1238250"/>
            <a:ext cx="8477400" cy="3429000"/>
            <a:chOff x="333375" y="1238250"/>
            <a:chExt cx="8477400" cy="3429000"/>
          </a:xfrm>
        </p:grpSpPr>
        <p:sp>
          <p:nvSpPr>
            <p:cNvPr id="107" name="Google Shape;107;p19"/>
            <p:cNvSpPr/>
            <p:nvPr/>
          </p:nvSpPr>
          <p:spPr>
            <a:xfrm>
              <a:off x="333375" y="1238250"/>
              <a:ext cx="2571900" cy="3429000"/>
            </a:xfrm>
            <a:prstGeom prst="roundRect">
              <a:avLst>
                <a:gd fmla="val 4444" name="adj"/>
              </a:avLst>
            </a:prstGeom>
            <a:solidFill>
              <a:srgbClr val="F8FAFC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00"/>
            </a:p>
          </p:txBody>
        </p:sp>
        <p:sp>
          <p:nvSpPr>
            <p:cNvPr id="108" name="Google Shape;108;p19"/>
            <p:cNvSpPr/>
            <p:nvPr/>
          </p:nvSpPr>
          <p:spPr>
            <a:xfrm>
              <a:off x="333375" y="1238250"/>
              <a:ext cx="2571900" cy="57300"/>
            </a:xfrm>
            <a:prstGeom prst="roundRect">
              <a:avLst>
                <a:gd fmla="val 50000" name="adj"/>
              </a:avLst>
            </a:prstGeom>
            <a:solidFill>
              <a:srgbClr val="EF44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00"/>
            </a:p>
          </p:txBody>
        </p:sp>
        <p:sp>
          <p:nvSpPr>
            <p:cNvPr id="109" name="Google Shape;109;p19"/>
            <p:cNvSpPr txBox="1"/>
            <p:nvPr/>
          </p:nvSpPr>
          <p:spPr>
            <a:xfrm>
              <a:off x="476250" y="1428750"/>
              <a:ext cx="2286000" cy="3095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1" lang="en" sz="155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Social Wedges</a:t>
              </a:r>
              <a:endParaRPr b="1" sz="155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t/>
              </a:r>
              <a:endParaRPr i="1" sz="1250">
                <a:solidFill>
                  <a:srgbClr val="64748B"/>
                </a:solidFill>
              </a:endParaRPr>
            </a:p>
            <a:p>
              <a:pPr indent="-311150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334155"/>
                </a:buClr>
                <a:buSzPts val="1300"/>
                <a:buChar char="●"/>
              </a:pPr>
              <a:r>
                <a:rPr b="1" lang="en" sz="130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Social Erosion:</a:t>
              </a:r>
              <a:r>
                <a:rPr lang="en" sz="1300">
                  <a:solidFill>
                    <a:srgbClr val="334155"/>
                  </a:solidFill>
                </a:rPr>
                <a:t> Students worry about losing genuine empathy and social connections.</a:t>
              </a:r>
              <a:endParaRPr sz="1300">
                <a:solidFill>
                  <a:srgbClr val="334155"/>
                </a:solidFill>
              </a:endParaRPr>
            </a:p>
            <a:p>
              <a:pPr indent="-311150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334155"/>
                </a:buClr>
                <a:buSzPts val="1300"/>
                <a:buChar char="●"/>
              </a:pPr>
              <a:r>
                <a:rPr b="1" lang="en" sz="130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Cheating Pressure:</a:t>
              </a:r>
              <a:r>
                <a:rPr lang="en" sz="1300">
                  <a:solidFill>
                    <a:srgbClr val="334155"/>
                  </a:solidFill>
                </a:rPr>
                <a:t> Fear of classmates using AI to get ahead forces others to do the same.</a:t>
              </a:r>
              <a:endParaRPr b="1" sz="155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" name="Google Shape;110;p19"/>
            <p:cNvSpPr/>
            <p:nvPr/>
          </p:nvSpPr>
          <p:spPr>
            <a:xfrm>
              <a:off x="3286125" y="1238250"/>
              <a:ext cx="2571900" cy="3429000"/>
            </a:xfrm>
            <a:prstGeom prst="roundRect">
              <a:avLst>
                <a:gd fmla="val 4444" name="adj"/>
              </a:avLst>
            </a:prstGeom>
            <a:solidFill>
              <a:srgbClr val="F8FAFC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00"/>
            </a:p>
          </p:txBody>
        </p:sp>
        <p:sp>
          <p:nvSpPr>
            <p:cNvPr id="111" name="Google Shape;111;p19"/>
            <p:cNvSpPr/>
            <p:nvPr/>
          </p:nvSpPr>
          <p:spPr>
            <a:xfrm>
              <a:off x="3286125" y="1238250"/>
              <a:ext cx="2571900" cy="57300"/>
            </a:xfrm>
            <a:prstGeom prst="roundRect">
              <a:avLst>
                <a:gd fmla="val 50000" name="adj"/>
              </a:avLst>
            </a:prstGeom>
            <a:solidFill>
              <a:srgbClr val="F59E0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00"/>
            </a:p>
          </p:txBody>
        </p:sp>
        <p:sp>
          <p:nvSpPr>
            <p:cNvPr id="112" name="Google Shape;112;p19"/>
            <p:cNvSpPr txBox="1"/>
            <p:nvPr/>
          </p:nvSpPr>
          <p:spPr>
            <a:xfrm>
              <a:off x="3429000" y="1428750"/>
              <a:ext cx="2286000" cy="3095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5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Thinking &amp; Learning</a:t>
              </a:r>
              <a:endParaRPr b="1" sz="165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t/>
              </a:r>
              <a:endParaRPr b="0" i="1" sz="135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317500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334155"/>
                </a:buClr>
                <a:buSzPts val="1400"/>
                <a:buFont typeface="Arial"/>
                <a:buChar char="●"/>
              </a:pPr>
              <a:r>
                <a:rPr b="1" lang="en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Dependency Trap:</a:t>
              </a:r>
              <a:r>
                <a:rPr b="0" lang="en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 Cognitive effort is needed to learn; outsourcing tasks stops student development.</a:t>
              </a:r>
              <a:endParaRPr b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317500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334155"/>
                </a:buClr>
                <a:buSzPts val="1400"/>
                <a:buFont typeface="Arial"/>
                <a:buChar char="●"/>
              </a:pPr>
              <a:r>
                <a:rPr b="1" lang="en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Illusion of Quality:</a:t>
              </a:r>
              <a:r>
                <a:rPr b="0" lang="en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">
                  <a:solidFill>
                    <a:srgbClr val="334155"/>
                  </a:solidFill>
                </a:rPr>
                <a:t>Polished surface</a:t>
              </a:r>
              <a:r>
                <a:rPr b="0" lang="en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 masks AI's unreliability</a:t>
              </a:r>
              <a:r>
                <a:rPr lang="en">
                  <a:solidFill>
                    <a:srgbClr val="334155"/>
                  </a:solidFill>
                </a:rPr>
                <a:t>.</a:t>
              </a:r>
              <a:endParaRPr b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" name="Google Shape;113;p19"/>
            <p:cNvSpPr/>
            <p:nvPr/>
          </p:nvSpPr>
          <p:spPr>
            <a:xfrm>
              <a:off x="6238875" y="1238250"/>
              <a:ext cx="2571900" cy="3429000"/>
            </a:xfrm>
            <a:prstGeom prst="roundRect">
              <a:avLst>
                <a:gd fmla="val 4444" name="adj"/>
              </a:avLst>
            </a:prstGeom>
            <a:solidFill>
              <a:srgbClr val="F8FAFC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00"/>
            </a:p>
          </p:txBody>
        </p:sp>
        <p:sp>
          <p:nvSpPr>
            <p:cNvPr id="114" name="Google Shape;114;p19"/>
            <p:cNvSpPr/>
            <p:nvPr/>
          </p:nvSpPr>
          <p:spPr>
            <a:xfrm>
              <a:off x="6238875" y="1238250"/>
              <a:ext cx="2571900" cy="57300"/>
            </a:xfrm>
            <a:prstGeom prst="roundRect">
              <a:avLst>
                <a:gd fmla="val 50000" name="adj"/>
              </a:avLst>
            </a:prstGeom>
            <a:solidFill>
              <a:srgbClr val="6366F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00"/>
            </a:p>
          </p:txBody>
        </p:sp>
        <p:sp>
          <p:nvSpPr>
            <p:cNvPr id="115" name="Google Shape;115;p19"/>
            <p:cNvSpPr txBox="1"/>
            <p:nvPr/>
          </p:nvSpPr>
          <p:spPr>
            <a:xfrm>
              <a:off x="6381750" y="1428750"/>
              <a:ext cx="2286000" cy="3095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5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Systemic Issues</a:t>
              </a:r>
              <a:endParaRPr b="1" sz="165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t/>
              </a:r>
              <a:endParaRPr i="1" sz="1350">
                <a:solidFill>
                  <a:srgbClr val="64748B"/>
                </a:solidFill>
              </a:endParaRPr>
            </a:p>
            <a:p>
              <a:pPr indent="-317500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334155"/>
                </a:buClr>
                <a:buSzPts val="1400"/>
                <a:buChar char="●"/>
              </a:pPr>
              <a:r>
                <a:rPr b="1" lang="en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Rapid Pace:</a:t>
              </a:r>
              <a:r>
                <a:rPr lang="en">
                  <a:solidFill>
                    <a:srgbClr val="334155"/>
                  </a:solidFill>
                </a:rPr>
                <a:t> AI is changing too fast for policies and experts to keep up.</a:t>
              </a:r>
              <a:endParaRPr>
                <a:solidFill>
                  <a:srgbClr val="334155"/>
                </a:solidFill>
              </a:endParaRPr>
            </a:p>
            <a:p>
              <a:pPr indent="-317500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334155"/>
                </a:buClr>
                <a:buSzPts val="1400"/>
                <a:buChar char="●"/>
              </a:pPr>
              <a:r>
                <a:rPr b="1" lang="en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Digital Divide:</a:t>
              </a:r>
              <a:r>
                <a:rPr lang="en">
                  <a:solidFill>
                    <a:srgbClr val="334155"/>
                  </a:solidFill>
                </a:rPr>
                <a:t> Exacerbates regional inequalities in electricity and internet access.</a:t>
              </a:r>
              <a:endParaRPr>
                <a:solidFill>
                  <a:srgbClr val="334155"/>
                </a:solidFill>
              </a:endParaRPr>
            </a:p>
          </p:txBody>
        </p:sp>
      </p:grpSp>
      <p:sp>
        <p:nvSpPr>
          <p:cNvPr id="116" name="Google Shape;116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9525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7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Challenges </a:t>
            </a:r>
            <a:r>
              <a:rPr b="1" lang="en" sz="27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to Address</a:t>
            </a:r>
            <a:endParaRPr b="1" i="0" sz="2700">
              <a:solidFill>
                <a:srgbClr val="0F172A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Productive Uses of AI</a:t>
            </a:r>
            <a:endParaRPr b="1"/>
          </a:p>
        </p:txBody>
      </p:sp>
      <p:sp>
        <p:nvSpPr>
          <p:cNvPr id="122" name="Google Shape;122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">
                <a:solidFill>
                  <a:schemeClr val="dk1"/>
                </a:solidFill>
              </a:rPr>
              <a:t>Dialogic Learning.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</a:rPr>
              <a:t>Example:</a:t>
            </a:r>
            <a:r>
              <a:rPr lang="en">
                <a:solidFill>
                  <a:schemeClr val="dk1"/>
                </a:solidFill>
              </a:rPr>
              <a:t> In preparation for a debate or discussion, ask genAI for counterarguments to your position.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">
                <a:solidFill>
                  <a:schemeClr val="dk1"/>
                </a:solidFill>
              </a:rPr>
              <a:t>Translation. </a:t>
            </a:r>
            <a:r>
              <a:rPr lang="en">
                <a:solidFill>
                  <a:schemeClr val="dk1"/>
                </a:solidFill>
              </a:rPr>
              <a:t>Translation into level &amp; language, for informational or technical texts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8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Productive</a:t>
            </a:r>
            <a:r>
              <a:rPr b="1" lang="en"/>
              <a:t> Uses of AI</a:t>
            </a:r>
            <a:endParaRPr b="1"/>
          </a:p>
        </p:txBody>
      </p:sp>
      <p:sp>
        <p:nvSpPr>
          <p:cNvPr id="128" name="Google Shape;128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">
                <a:solidFill>
                  <a:schemeClr val="dk1"/>
                </a:solidFill>
              </a:rPr>
              <a:t>Dialogic Learning. </a:t>
            </a:r>
            <a:r>
              <a:rPr lang="en">
                <a:solidFill>
                  <a:schemeClr val="dk1"/>
                </a:solidFill>
              </a:rPr>
              <a:t>Use genAI dialogically.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">
                <a:solidFill>
                  <a:schemeClr val="dk1"/>
                </a:solidFill>
              </a:rPr>
              <a:t>Translation. </a:t>
            </a:r>
            <a:r>
              <a:rPr lang="en">
                <a:solidFill>
                  <a:schemeClr val="dk1"/>
                </a:solidFill>
              </a:rPr>
              <a:t>Translation into level &amp; language, for informational or technical texts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800"/>
              </a:spcAft>
              <a:buNone/>
            </a:pPr>
            <a:r>
              <a:rPr i="1" lang="en">
                <a:solidFill>
                  <a:schemeClr val="dk1"/>
                </a:solidFill>
              </a:rPr>
              <a:t>Example:</a:t>
            </a:r>
            <a:r>
              <a:rPr lang="en">
                <a:solidFill>
                  <a:schemeClr val="dk1"/>
                </a:solidFill>
              </a:rPr>
              <a:t> On finding a scientific article as a source, ask AI to summarize the results at your reading level. Check its answer against the figures and tables.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Productive</a:t>
            </a:r>
            <a:r>
              <a:rPr b="1" lang="en"/>
              <a:t> Uses of AI</a:t>
            </a:r>
            <a:endParaRPr b="1"/>
          </a:p>
        </p:txBody>
      </p:sp>
      <p:sp>
        <p:nvSpPr>
          <p:cNvPr id="134" name="Google Shape;134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10000"/>
          </a:bodyPr>
          <a:lstStyle/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">
                <a:solidFill>
                  <a:schemeClr val="dk1"/>
                </a:solidFill>
              </a:rPr>
              <a:t>Dialogic Learning. </a:t>
            </a:r>
            <a:r>
              <a:rPr lang="en">
                <a:solidFill>
                  <a:schemeClr val="dk1"/>
                </a:solidFill>
              </a:rPr>
              <a:t>Use genAI dialogically.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">
                <a:solidFill>
                  <a:schemeClr val="dk1"/>
                </a:solidFill>
              </a:rPr>
              <a:t>Translation. </a:t>
            </a:r>
            <a:r>
              <a:rPr lang="en">
                <a:solidFill>
                  <a:schemeClr val="dk1"/>
                </a:solidFill>
              </a:rPr>
              <a:t>Translation into level &amp; language, for informational or technical texts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">
                <a:solidFill>
                  <a:schemeClr val="dk1"/>
                </a:solidFill>
              </a:rPr>
              <a:t>Active Evaluation. </a:t>
            </a:r>
            <a:r>
              <a:rPr lang="en">
                <a:solidFill>
                  <a:schemeClr val="dk1"/>
                </a:solidFill>
              </a:rPr>
              <a:t>When accuracy matters, practice active evaluation of claims and sources given by AI, rather than accepting all claims at face value.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</a:rPr>
              <a:t>Example:</a:t>
            </a:r>
            <a:r>
              <a:rPr lang="en">
                <a:solidFill>
                  <a:schemeClr val="dk1"/>
                </a:solidFill>
              </a:rPr>
              <a:t> Lateral reading is a key skill for evaluating sources. But it is difficult when no sources are given. Ask AI for its sources, and check the sources for reliability and relevance.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8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Productive</a:t>
            </a:r>
            <a:r>
              <a:rPr b="1" lang="en"/>
              <a:t> Uses of AI</a:t>
            </a:r>
            <a:endParaRPr b="1"/>
          </a:p>
        </p:txBody>
      </p:sp>
      <p:sp>
        <p:nvSpPr>
          <p:cNvPr id="140" name="Google Shape;140;p23"/>
          <p:cNvSpPr txBox="1"/>
          <p:nvPr>
            <p:ph idx="1" type="body"/>
          </p:nvPr>
        </p:nvSpPr>
        <p:spPr>
          <a:xfrm>
            <a:off x="311700" y="1152475"/>
            <a:ext cx="8520600" cy="375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10000"/>
          </a:bodyPr>
          <a:lstStyle/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">
                <a:solidFill>
                  <a:schemeClr val="dk1"/>
                </a:solidFill>
              </a:rPr>
              <a:t>Dialogic Learning. </a:t>
            </a:r>
            <a:r>
              <a:rPr lang="en">
                <a:solidFill>
                  <a:schemeClr val="dk1"/>
                </a:solidFill>
              </a:rPr>
              <a:t>Use genAI dialogically.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">
                <a:solidFill>
                  <a:schemeClr val="dk1"/>
                </a:solidFill>
              </a:rPr>
              <a:t>Translation. </a:t>
            </a:r>
            <a:r>
              <a:rPr lang="en">
                <a:solidFill>
                  <a:schemeClr val="dk1"/>
                </a:solidFill>
              </a:rPr>
              <a:t>Translation into level &amp; language, for informational or technical texts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">
                <a:solidFill>
                  <a:schemeClr val="dk1"/>
                </a:solidFill>
              </a:rPr>
              <a:t>Active Evaluation. </a:t>
            </a:r>
            <a:r>
              <a:rPr lang="en">
                <a:solidFill>
                  <a:schemeClr val="dk1"/>
                </a:solidFill>
              </a:rPr>
              <a:t>When accuracy matters, practice active evaluation of claims and sources given by AI, rather than accepting all claims at face value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">
                <a:solidFill>
                  <a:schemeClr val="dk1"/>
                </a:solidFill>
              </a:rPr>
              <a:t>Think First. </a:t>
            </a:r>
            <a:r>
              <a:rPr lang="en">
                <a:solidFill>
                  <a:schemeClr val="dk1"/>
                </a:solidFill>
              </a:rPr>
              <a:t>Brainstorm independently </a:t>
            </a:r>
            <a:r>
              <a:rPr i="1" lang="en">
                <a:solidFill>
                  <a:schemeClr val="dk1"/>
                </a:solidFill>
              </a:rPr>
              <a:t>before </a:t>
            </a:r>
            <a:r>
              <a:rPr lang="en">
                <a:solidFill>
                  <a:schemeClr val="dk1"/>
                </a:solidFill>
              </a:rPr>
              <a:t>asking AI to generate new ideas, to avoid scope narrowing.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</a:rPr>
              <a:t>Example: </a:t>
            </a:r>
            <a:r>
              <a:rPr lang="en">
                <a:solidFill>
                  <a:schemeClr val="dk1"/>
                </a:solidFill>
              </a:rPr>
              <a:t>When deciding on an essay topic for civics class, first handwrite a list of favorite events, people, and </a:t>
            </a:r>
            <a:r>
              <a:rPr lang="en">
                <a:solidFill>
                  <a:schemeClr val="dk1"/>
                </a:solidFill>
              </a:rPr>
              <a:t>themes, </a:t>
            </a:r>
            <a:r>
              <a:rPr lang="en">
                <a:solidFill>
                  <a:schemeClr val="dk1"/>
                </a:solidFill>
              </a:rPr>
              <a:t>and use that to come up with several ideas for essay topics. If unsatisfied, then and only then ask AI for variations on your ideas.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AI-Robust Tasks</a:t>
            </a:r>
            <a:endParaRPr b="1"/>
          </a:p>
        </p:txBody>
      </p:sp>
      <p:sp>
        <p:nvSpPr>
          <p:cNvPr id="146" name="Google Shape;146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Hands-on materials whenever possible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Labs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Drawing or building models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Card sorts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Hand-writing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Social Interaction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Pairwise, group, and class discussions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Collaborative work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Scaffold activities for social interaction - e.g., roles for each student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Jigsaw groups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Limit phone use</a:t>
            </a:r>
            <a:endParaRPr/>
          </a:p>
        </p:txBody>
      </p:sp>
      <p:pic>
        <p:nvPicPr>
          <p:cNvPr id="147" name="Google Shape;147;p24" title="images-1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32801" y="1"/>
            <a:ext cx="3087100" cy="3087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2"/>
                </a:solidFill>
              </a:rPr>
              <a:t>Scientific Thinking for All: A Toolkit</a:t>
            </a:r>
            <a:endParaRPr/>
          </a:p>
        </p:txBody>
      </p:sp>
      <p:pic>
        <p:nvPicPr>
          <p:cNvPr id="153" name="Google Shape;153;p25" title="Screenshot 2026-07-20 at 5.06.26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6527" y="707972"/>
            <a:ext cx="3178449" cy="3727567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25" title="Screenshot 2026-07-20 at 5.07.40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81651" y="1109175"/>
            <a:ext cx="3344350" cy="36016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9525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6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Guiding Principles for Education in AI Era</a:t>
            </a:r>
            <a:endParaRPr b="1" i="0" sz="2600">
              <a:solidFill>
                <a:srgbClr val="0F172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60" name="Google Shape;160;p26"/>
          <p:cNvGrpSpPr/>
          <p:nvPr/>
        </p:nvGrpSpPr>
        <p:grpSpPr>
          <a:xfrm>
            <a:off x="217932" y="1194588"/>
            <a:ext cx="8620280" cy="3472663"/>
            <a:chOff x="333375" y="1194588"/>
            <a:chExt cx="8620280" cy="3472663"/>
          </a:xfrm>
        </p:grpSpPr>
        <p:sp>
          <p:nvSpPr>
            <p:cNvPr id="161" name="Google Shape;161;p26"/>
            <p:cNvSpPr/>
            <p:nvPr/>
          </p:nvSpPr>
          <p:spPr>
            <a:xfrm>
              <a:off x="333375" y="1238250"/>
              <a:ext cx="2571900" cy="3429000"/>
            </a:xfrm>
            <a:prstGeom prst="roundRect">
              <a:avLst>
                <a:gd fmla="val 4444" name="adj"/>
              </a:avLst>
            </a:prstGeom>
            <a:solidFill>
              <a:srgbClr val="F8FAFC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" name="Google Shape;162;p26"/>
            <p:cNvSpPr/>
            <p:nvPr/>
          </p:nvSpPr>
          <p:spPr>
            <a:xfrm>
              <a:off x="333375" y="1238250"/>
              <a:ext cx="2571900" cy="57300"/>
            </a:xfrm>
            <a:prstGeom prst="roundRect">
              <a:avLst>
                <a:gd fmla="val 50000" name="adj"/>
              </a:avLst>
            </a:prstGeom>
            <a:solidFill>
              <a:srgbClr val="10B98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" name="Google Shape;163;p26"/>
            <p:cNvSpPr txBox="1"/>
            <p:nvPr/>
          </p:nvSpPr>
          <p:spPr>
            <a:xfrm>
              <a:off x="476250" y="1428750"/>
              <a:ext cx="2286000" cy="3095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5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Effort &amp; Offline Practice</a:t>
              </a:r>
              <a:endParaRPr b="1" sz="135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t/>
              </a:r>
              <a:endParaRPr b="0" i="1" sz="105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98450" lvl="0" marL="457200" rtl="0" algn="l">
                <a:spcBef>
                  <a:spcPts val="1200"/>
                </a:spcBef>
                <a:spcAft>
                  <a:spcPts val="0"/>
                </a:spcAft>
                <a:buClr>
                  <a:srgbClr val="334155"/>
                </a:buClr>
                <a:buSzPts val="1100"/>
                <a:buFont typeface="Arial"/>
                <a:buChar char="●"/>
              </a:pPr>
              <a:r>
                <a:rPr b="1" lang="en" sz="110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Core Effort:</a:t>
              </a:r>
              <a:r>
                <a:rPr b="0" lang="en" sz="110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 Difficulty and effort are crucial for learnin</a:t>
              </a:r>
              <a:r>
                <a:rPr lang="en" sz="1100">
                  <a:solidFill>
                    <a:srgbClr val="334155"/>
                  </a:solidFill>
                </a:rPr>
                <a:t>g </a:t>
              </a:r>
              <a:endParaRPr b="0" sz="11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98450" lvl="0" marL="457200" rtl="0" algn="l">
                <a:spcBef>
                  <a:spcPts val="800"/>
                </a:spcBef>
                <a:spcAft>
                  <a:spcPts val="0"/>
                </a:spcAft>
                <a:buClr>
                  <a:srgbClr val="334155"/>
                </a:buClr>
                <a:buSzPts val="1100"/>
                <a:buFont typeface="Arial"/>
                <a:buChar char="●"/>
              </a:pPr>
              <a:r>
                <a:rPr b="1" lang="en" sz="110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Practicing is Learning: </a:t>
              </a:r>
              <a:r>
                <a:rPr lang="en" sz="1100">
                  <a:solidFill>
                    <a:srgbClr val="0F172A"/>
                  </a:solidFill>
                </a:rPr>
                <a:t>Students need to practice all steps of tasks like writing an essay, and should not outsource any skill they have not mastered.</a:t>
              </a:r>
              <a:endParaRPr sz="1100">
                <a:solidFill>
                  <a:srgbClr val="0F172A"/>
                </a:solidFill>
              </a:endParaRPr>
            </a:p>
            <a:p>
              <a:pPr indent="-298450" lvl="0" marL="457200" rtl="0" algn="l">
                <a:spcBef>
                  <a:spcPts val="0"/>
                </a:spcBef>
                <a:spcAft>
                  <a:spcPts val="0"/>
                </a:spcAft>
                <a:buClr>
                  <a:srgbClr val="334155"/>
                </a:buClr>
                <a:buSzPts val="1100"/>
                <a:buFont typeface="Arial"/>
                <a:buChar char="●"/>
              </a:pPr>
              <a:r>
                <a:rPr b="1" lang="en" sz="110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No-AI Practice:</a:t>
              </a:r>
              <a:r>
                <a:rPr b="0" lang="en" sz="110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 Students must practice reading, writing, and math using pen &amp; paper, oral exams, or locked PCs</a:t>
              </a:r>
              <a:r>
                <a:rPr lang="en" sz="1100">
                  <a:solidFill>
                    <a:srgbClr val="334155"/>
                  </a:solidFill>
                </a:rPr>
                <a:t>.</a:t>
              </a:r>
              <a:endParaRPr b="0" sz="11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" name="Google Shape;164;p26"/>
            <p:cNvSpPr/>
            <p:nvPr/>
          </p:nvSpPr>
          <p:spPr>
            <a:xfrm>
              <a:off x="3286050" y="1238250"/>
              <a:ext cx="2571900" cy="3429000"/>
            </a:xfrm>
            <a:prstGeom prst="roundRect">
              <a:avLst>
                <a:gd fmla="val 4444" name="adj"/>
              </a:avLst>
            </a:prstGeom>
            <a:solidFill>
              <a:srgbClr val="F8FAFC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" name="Google Shape;165;p26"/>
            <p:cNvSpPr/>
            <p:nvPr/>
          </p:nvSpPr>
          <p:spPr>
            <a:xfrm>
              <a:off x="3286125" y="1238250"/>
              <a:ext cx="2571900" cy="57300"/>
            </a:xfrm>
            <a:prstGeom prst="roundRect">
              <a:avLst>
                <a:gd fmla="val 50000" name="adj"/>
              </a:avLst>
            </a:prstGeom>
            <a:solidFill>
              <a:srgbClr val="3B82F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" name="Google Shape;166;p26"/>
            <p:cNvSpPr txBox="1"/>
            <p:nvPr/>
          </p:nvSpPr>
          <p:spPr>
            <a:xfrm>
              <a:off x="3356907" y="1439868"/>
              <a:ext cx="2466900" cy="3095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5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Critical Evaluation</a:t>
              </a:r>
              <a:endParaRPr b="1" sz="135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t/>
              </a:r>
              <a:endParaRPr b="0" i="1" sz="105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98450" lvl="0" marL="457200" rtl="0" algn="l">
                <a:spcBef>
                  <a:spcPts val="1200"/>
                </a:spcBef>
                <a:spcAft>
                  <a:spcPts val="0"/>
                </a:spcAft>
                <a:buClr>
                  <a:srgbClr val="334155"/>
                </a:buClr>
                <a:buSzPts val="1100"/>
                <a:buFont typeface="Arial"/>
                <a:buChar char="●"/>
              </a:pPr>
              <a:r>
                <a:rPr b="1" lang="en" sz="110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Active Reading</a:t>
              </a:r>
              <a:r>
                <a:rPr b="1" lang="en" sz="110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:</a:t>
              </a:r>
              <a:r>
                <a:rPr b="0" lang="en" sz="110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 Critically evaluate outputs for bias, plausibility, misinterpretations, and lacunae</a:t>
              </a:r>
              <a:r>
                <a:rPr lang="en" sz="1100">
                  <a:solidFill>
                    <a:srgbClr val="334155"/>
                  </a:solidFill>
                </a:rPr>
                <a:t>.</a:t>
              </a:r>
              <a:endParaRPr b="0" sz="11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98450" lvl="0" marL="457200" rtl="0" algn="l">
                <a:spcBef>
                  <a:spcPts val="800"/>
                </a:spcBef>
                <a:spcAft>
                  <a:spcPts val="0"/>
                </a:spcAft>
                <a:buClr>
                  <a:srgbClr val="334155"/>
                </a:buClr>
                <a:buSzPts val="1100"/>
                <a:buFont typeface="Arial"/>
                <a:buChar char="●"/>
              </a:pPr>
              <a:r>
                <a:rPr b="1" lang="en" sz="110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Limits of LLMs:</a:t>
              </a:r>
              <a:r>
                <a:rPr b="0" lang="en" sz="110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 Counter "cognitive surrender" by ensuring students know LLMs are not superintelligent</a:t>
              </a:r>
              <a:r>
                <a:rPr lang="en" sz="1100">
                  <a:solidFill>
                    <a:srgbClr val="334155"/>
                  </a:solidFill>
                </a:rPr>
                <a:t>.</a:t>
              </a:r>
              <a:endParaRPr sz="1100">
                <a:solidFill>
                  <a:srgbClr val="334155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500">
                <a:solidFill>
                  <a:srgbClr val="334155"/>
                </a:solidFill>
              </a:endParaRPr>
            </a:p>
            <a:p>
              <a:pPr indent="-298450" lvl="0" marL="457200" rtl="0" algn="l">
                <a:spcBef>
                  <a:spcPts val="0"/>
                </a:spcBef>
                <a:spcAft>
                  <a:spcPts val="0"/>
                </a:spcAft>
                <a:buClr>
                  <a:srgbClr val="334155"/>
                </a:buClr>
                <a:buSzPts val="1100"/>
                <a:buFont typeface="Arial"/>
                <a:buChar char="●"/>
              </a:pPr>
              <a:r>
                <a:rPr b="1" lang="en" sz="110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Systems Thinking:</a:t>
              </a:r>
              <a:r>
                <a:rPr lang="en" sz="1100">
                  <a:solidFill>
                    <a:srgbClr val="334155"/>
                  </a:solidFill>
                </a:rPr>
                <a:t> Teach students how AI fits wider contexts to help them identify safe, proper use,</a:t>
              </a:r>
              <a:endParaRPr sz="1100">
                <a:solidFill>
                  <a:srgbClr val="334155"/>
                </a:solidFill>
              </a:endParaRPr>
            </a:p>
          </p:txBody>
        </p:sp>
        <p:sp>
          <p:nvSpPr>
            <p:cNvPr id="167" name="Google Shape;167;p26"/>
            <p:cNvSpPr/>
            <p:nvPr/>
          </p:nvSpPr>
          <p:spPr>
            <a:xfrm>
              <a:off x="6381755" y="1216425"/>
              <a:ext cx="2571900" cy="3429000"/>
            </a:xfrm>
            <a:prstGeom prst="roundRect">
              <a:avLst>
                <a:gd fmla="val 4444" name="adj"/>
              </a:avLst>
            </a:prstGeom>
            <a:solidFill>
              <a:srgbClr val="F8FAFC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" name="Google Shape;168;p26"/>
            <p:cNvSpPr/>
            <p:nvPr/>
          </p:nvSpPr>
          <p:spPr>
            <a:xfrm>
              <a:off x="6381750" y="1194588"/>
              <a:ext cx="2571900" cy="57300"/>
            </a:xfrm>
            <a:prstGeom prst="roundRect">
              <a:avLst>
                <a:gd fmla="val 50000" name="adj"/>
              </a:avLst>
            </a:prstGeom>
            <a:solidFill>
              <a:srgbClr val="6366F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" name="Google Shape;169;p26"/>
            <p:cNvSpPr txBox="1"/>
            <p:nvPr/>
          </p:nvSpPr>
          <p:spPr>
            <a:xfrm>
              <a:off x="6524700" y="1428775"/>
              <a:ext cx="2286000" cy="3095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5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Flipped Classroom</a:t>
              </a:r>
              <a:endParaRPr b="1" sz="135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t/>
              </a:r>
              <a:endParaRPr b="0" i="1" sz="105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98450" lvl="0" marL="457200" rtl="0" algn="l">
                <a:spcBef>
                  <a:spcPts val="1200"/>
                </a:spcBef>
                <a:spcAft>
                  <a:spcPts val="0"/>
                </a:spcAft>
                <a:buClr>
                  <a:srgbClr val="334155"/>
                </a:buClr>
                <a:buSzPts val="1100"/>
                <a:buFont typeface="Arial"/>
                <a:buChar char="●"/>
              </a:pPr>
              <a:r>
                <a:rPr b="1" lang="en" sz="110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Active Classroom:</a:t>
              </a:r>
              <a:r>
                <a:rPr b="0" lang="en" sz="110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" sz="1100">
                  <a:solidFill>
                    <a:srgbClr val="334155"/>
                  </a:solidFill>
                </a:rPr>
                <a:t>In class, focus on </a:t>
              </a:r>
              <a:r>
                <a:rPr b="0" lang="en" sz="110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social and hands-on work</a:t>
              </a:r>
              <a:endParaRPr sz="1100">
                <a:solidFill>
                  <a:srgbClr val="334155"/>
                </a:solidFill>
              </a:endParaRPr>
            </a:p>
            <a:p>
              <a:pPr indent="-298450" lvl="0" marL="457200" rtl="0" algn="l">
                <a:spcBef>
                  <a:spcPts val="800"/>
                </a:spcBef>
                <a:spcAft>
                  <a:spcPts val="0"/>
                </a:spcAft>
                <a:buClr>
                  <a:srgbClr val="334155"/>
                </a:buClr>
                <a:buSzPts val="1100"/>
                <a:buFont typeface="Arial"/>
                <a:buChar char="●"/>
              </a:pPr>
              <a:r>
                <a:rPr b="1" lang="en" sz="1100">
                  <a:solidFill>
                    <a:srgbClr val="334155"/>
                  </a:solidFill>
                </a:rPr>
                <a:t>Computer Tutors: </a:t>
              </a:r>
              <a:r>
                <a:rPr lang="en" sz="1100">
                  <a:solidFill>
                    <a:srgbClr val="334155"/>
                  </a:solidFill>
                </a:rPr>
                <a:t>U</a:t>
              </a:r>
              <a:r>
                <a:rPr b="0" lang="en" sz="110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tilize computer</a:t>
              </a:r>
              <a:r>
                <a:rPr lang="en" sz="1100">
                  <a:solidFill>
                    <a:srgbClr val="334155"/>
                  </a:solidFill>
                </a:rPr>
                <a:t> work</a:t>
              </a:r>
              <a:r>
                <a:rPr b="0" lang="en" sz="110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 at home for structured support</a:t>
              </a:r>
              <a:r>
                <a:rPr lang="en" sz="1100">
                  <a:solidFill>
                    <a:srgbClr val="334155"/>
                  </a:solidFill>
                </a:rPr>
                <a:t> &amp;</a:t>
              </a:r>
              <a:r>
                <a:rPr b="0" lang="en" sz="110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 self-pacing</a:t>
              </a:r>
              <a:endParaRPr b="0" sz="11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457200" rtl="0" algn="l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1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7"/>
          <p:cNvSpPr txBox="1"/>
          <p:nvPr/>
        </p:nvSpPr>
        <p:spPr>
          <a:xfrm>
            <a:off x="476250" y="445025"/>
            <a:ext cx="8520600" cy="572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6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Recommendations</a:t>
            </a:r>
            <a:endParaRPr b="1" i="0" sz="2600">
              <a:solidFill>
                <a:srgbClr val="0F172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75" name="Google Shape;175;p27"/>
          <p:cNvGrpSpPr/>
          <p:nvPr/>
        </p:nvGrpSpPr>
        <p:grpSpPr>
          <a:xfrm>
            <a:off x="476274" y="1333610"/>
            <a:ext cx="4225643" cy="3633921"/>
            <a:chOff x="476250" y="1333500"/>
            <a:chExt cx="3905400" cy="3238500"/>
          </a:xfrm>
        </p:grpSpPr>
        <p:sp>
          <p:nvSpPr>
            <p:cNvPr id="176" name="Google Shape;176;p27"/>
            <p:cNvSpPr/>
            <p:nvPr/>
          </p:nvSpPr>
          <p:spPr>
            <a:xfrm>
              <a:off x="476250" y="1333500"/>
              <a:ext cx="3905400" cy="3238500"/>
            </a:xfrm>
            <a:prstGeom prst="roundRect">
              <a:avLst>
                <a:gd fmla="val 3529" name="adj"/>
              </a:avLst>
            </a:prstGeom>
            <a:solidFill>
              <a:srgbClr val="F8FAFC"/>
            </a:solidFill>
            <a:ln cap="flat" cmpd="sng" w="10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" name="Google Shape;177;p27"/>
            <p:cNvSpPr/>
            <p:nvPr/>
          </p:nvSpPr>
          <p:spPr>
            <a:xfrm>
              <a:off x="476250" y="1333500"/>
              <a:ext cx="3905400" cy="57300"/>
            </a:xfrm>
            <a:prstGeom prst="roundRect">
              <a:avLst>
                <a:gd fmla="val 50000" name="adj"/>
              </a:avLst>
            </a:prstGeom>
            <a:solidFill>
              <a:srgbClr val="3B82F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" name="Google Shape;178;p27"/>
            <p:cNvSpPr txBox="1"/>
            <p:nvPr/>
          </p:nvSpPr>
          <p:spPr>
            <a:xfrm>
              <a:off x="576935" y="1474996"/>
              <a:ext cx="3650700" cy="276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61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Teacher Literacy</a:t>
              </a:r>
              <a:endParaRPr b="1" sz="1461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325"/>
                </a:spcBef>
                <a:spcAft>
                  <a:spcPts val="0"/>
                </a:spcAft>
                <a:buNone/>
              </a:pPr>
              <a:r>
                <a:t/>
              </a:r>
              <a:endParaRPr b="0" i="1" sz="7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322911" lvl="0" marL="494671" rtl="0" algn="l">
                <a:spcBef>
                  <a:spcPts val="1298"/>
                </a:spcBef>
                <a:spcAft>
                  <a:spcPts val="0"/>
                </a:spcAft>
                <a:buClr>
                  <a:srgbClr val="334155"/>
                </a:buClr>
                <a:buSzPts val="1190"/>
                <a:buFont typeface="Arial"/>
                <a:buChar char="●"/>
              </a:pPr>
              <a:r>
                <a:rPr b="1" lang="en" sz="119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Balanced Perspective:</a:t>
              </a:r>
              <a:r>
                <a:rPr b="0" lang="en" sz="119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 Training that includes both </a:t>
              </a:r>
              <a:r>
                <a:rPr lang="en" sz="1190">
                  <a:solidFill>
                    <a:srgbClr val="334155"/>
                  </a:solidFill>
                </a:rPr>
                <a:t>benefits</a:t>
              </a:r>
              <a:r>
                <a:rPr b="0" lang="en" sz="119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 and </a:t>
              </a:r>
              <a:r>
                <a:rPr lang="en" sz="1190">
                  <a:solidFill>
                    <a:srgbClr val="334155"/>
                  </a:solidFill>
                </a:rPr>
                <a:t>risks </a:t>
              </a:r>
              <a:r>
                <a:rPr b="0" lang="en" sz="119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of AI</a:t>
              </a:r>
              <a:r>
                <a:rPr lang="en" sz="1190">
                  <a:solidFill>
                    <a:srgbClr val="334155"/>
                  </a:solidFill>
                </a:rPr>
                <a:t>.</a:t>
              </a:r>
              <a:endParaRPr b="0" sz="119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322911" lvl="0" marL="494671" rtl="0" algn="l">
                <a:spcBef>
                  <a:spcPts val="974"/>
                </a:spcBef>
                <a:spcAft>
                  <a:spcPts val="0"/>
                </a:spcAft>
                <a:buClr>
                  <a:srgbClr val="334155"/>
                </a:buClr>
                <a:buSzPts val="1190"/>
                <a:buFont typeface="Arial"/>
                <a:buChar char="●"/>
              </a:pPr>
              <a:r>
                <a:rPr b="1" lang="en" sz="119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Strategic vs. Counterproductive:</a:t>
              </a:r>
              <a:r>
                <a:rPr b="0" lang="en" sz="119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 Knowing when AI helps and when it hinders learning.</a:t>
              </a:r>
              <a:endParaRPr b="0" sz="119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322911" lvl="0" marL="494671" rtl="0" algn="l">
                <a:spcBef>
                  <a:spcPts val="974"/>
                </a:spcBef>
                <a:spcAft>
                  <a:spcPts val="0"/>
                </a:spcAft>
                <a:buClr>
                  <a:srgbClr val="334155"/>
                </a:buClr>
                <a:buSzPts val="1190"/>
                <a:buFont typeface="Arial"/>
                <a:buChar char="●"/>
              </a:pPr>
              <a:r>
                <a:rPr b="1" lang="en" sz="119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Ethical Issues:</a:t>
              </a:r>
              <a:r>
                <a:rPr b="0" lang="en" sz="119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" sz="1190">
                  <a:solidFill>
                    <a:srgbClr val="334155"/>
                  </a:solidFill>
                </a:rPr>
                <a:t>Engage teachers and students in critical discussions about</a:t>
              </a:r>
              <a:r>
                <a:rPr b="0" lang="en" sz="119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" sz="1190">
                  <a:solidFill>
                    <a:srgbClr val="334155"/>
                  </a:solidFill>
                </a:rPr>
                <a:t>deception</a:t>
              </a:r>
              <a:r>
                <a:rPr b="0" lang="en" sz="119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, bias, environmental costs, and integrity</a:t>
              </a:r>
              <a:r>
                <a:rPr lang="en" sz="1190">
                  <a:solidFill>
                    <a:srgbClr val="334155"/>
                  </a:solidFill>
                </a:rPr>
                <a:t>.</a:t>
              </a:r>
              <a:endParaRPr b="0" sz="119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322911" lvl="0" marL="494671" rtl="0" algn="l">
                <a:spcBef>
                  <a:spcPts val="974"/>
                </a:spcBef>
                <a:spcAft>
                  <a:spcPts val="0"/>
                </a:spcAft>
                <a:buClr>
                  <a:srgbClr val="334155"/>
                </a:buClr>
                <a:buSzPts val="1190"/>
                <a:buFont typeface="Arial"/>
                <a:buChar char="●"/>
              </a:pPr>
              <a:r>
                <a:rPr b="1" lang="en" sz="119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Metacognition: </a:t>
              </a:r>
              <a:r>
                <a:rPr lang="en" sz="1190">
                  <a:solidFill>
                    <a:srgbClr val="0F172A"/>
                  </a:solidFill>
                </a:rPr>
                <a:t>Engage teachers in reflection about why AI misuse is so tempting </a:t>
              </a:r>
              <a:endParaRPr sz="1190">
                <a:solidFill>
                  <a:srgbClr val="0F172A"/>
                </a:solidFill>
              </a:endParaRPr>
            </a:p>
            <a:p>
              <a:pPr indent="0" lvl="0" marL="494671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90">
                <a:solidFill>
                  <a:srgbClr val="0F172A"/>
                </a:solidFill>
              </a:endParaRPr>
            </a:p>
            <a:p>
              <a:pPr indent="-322911" lvl="0" marL="494671" rtl="0" algn="l">
                <a:spcBef>
                  <a:spcPts val="0"/>
                </a:spcBef>
                <a:spcAft>
                  <a:spcPts val="0"/>
                </a:spcAft>
                <a:buClr>
                  <a:srgbClr val="334155"/>
                </a:buClr>
                <a:buSzPts val="1190"/>
                <a:buFont typeface="Arial"/>
                <a:buChar char="●"/>
              </a:pPr>
              <a:r>
                <a:rPr b="1" lang="en" sz="119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No-AI Practice:</a:t>
              </a:r>
              <a:r>
                <a:rPr b="0" lang="en" sz="119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 Ensuring students get plenty of practice reading, writing, and problem-solving offline.</a:t>
              </a:r>
              <a:endParaRPr b="0" sz="119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79" name="Google Shape;179;p27"/>
          <p:cNvGrpSpPr/>
          <p:nvPr/>
        </p:nvGrpSpPr>
        <p:grpSpPr>
          <a:xfrm>
            <a:off x="4762491" y="1333498"/>
            <a:ext cx="4225643" cy="3504057"/>
            <a:chOff x="4762500" y="1333500"/>
            <a:chExt cx="3905400" cy="3238500"/>
          </a:xfrm>
        </p:grpSpPr>
        <p:sp>
          <p:nvSpPr>
            <p:cNvPr id="180" name="Google Shape;180;p27"/>
            <p:cNvSpPr/>
            <p:nvPr/>
          </p:nvSpPr>
          <p:spPr>
            <a:xfrm>
              <a:off x="4762500" y="1333500"/>
              <a:ext cx="3905400" cy="3238500"/>
            </a:xfrm>
            <a:prstGeom prst="roundRect">
              <a:avLst>
                <a:gd fmla="val 3529" name="adj"/>
              </a:avLst>
            </a:prstGeom>
            <a:solidFill>
              <a:srgbClr val="F8FAFC"/>
            </a:solidFill>
            <a:ln cap="flat" cmpd="sng" w="10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" name="Google Shape;181;p27"/>
            <p:cNvSpPr/>
            <p:nvPr/>
          </p:nvSpPr>
          <p:spPr>
            <a:xfrm>
              <a:off x="4762500" y="1333500"/>
              <a:ext cx="3905400" cy="57300"/>
            </a:xfrm>
            <a:prstGeom prst="roundRect">
              <a:avLst>
                <a:gd fmla="val 50000" name="adj"/>
              </a:avLst>
            </a:prstGeom>
            <a:solidFill>
              <a:srgbClr val="10B98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" name="Google Shape;182;p27"/>
            <p:cNvSpPr txBox="1"/>
            <p:nvPr/>
          </p:nvSpPr>
          <p:spPr>
            <a:xfrm>
              <a:off x="5000625" y="1571625"/>
              <a:ext cx="3429000" cy="276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61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Informed Policies</a:t>
              </a:r>
              <a:endParaRPr b="1" sz="1461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325"/>
                </a:spcBef>
                <a:spcAft>
                  <a:spcPts val="0"/>
                </a:spcAft>
                <a:buNone/>
              </a:pPr>
              <a:r>
                <a:rPr b="0" i="1" lang="en" sz="1136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Multi-level governance from school to global standards.</a:t>
              </a:r>
              <a:endParaRPr b="0" i="1" sz="1136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322924" lvl="0" marL="494692" rtl="0" algn="l">
                <a:spcBef>
                  <a:spcPts val="1298"/>
                </a:spcBef>
                <a:spcAft>
                  <a:spcPts val="0"/>
                </a:spcAft>
                <a:buClr>
                  <a:srgbClr val="334155"/>
                </a:buClr>
                <a:buSzPts val="1190"/>
                <a:buFont typeface="Arial"/>
                <a:buChar char="●"/>
              </a:pPr>
              <a:r>
                <a:rPr b="1" lang="en" sz="119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Student Safeguards:</a:t>
              </a:r>
              <a:r>
                <a:rPr b="0" lang="en" sz="119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 Helping students make the most of genAI while protecting them from </a:t>
              </a:r>
              <a:r>
                <a:rPr lang="en" sz="1190">
                  <a:solidFill>
                    <a:srgbClr val="334155"/>
                  </a:solidFill>
                </a:rPr>
                <a:t>harmful</a:t>
              </a:r>
              <a:r>
                <a:rPr b="0" lang="en" sz="119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" sz="1190">
                  <a:solidFill>
                    <a:srgbClr val="334155"/>
                  </a:solidFill>
                </a:rPr>
                <a:t>temptations.</a:t>
              </a:r>
              <a:endParaRPr b="0" sz="119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322924" lvl="0" marL="494692" rtl="0" algn="l">
                <a:spcBef>
                  <a:spcPts val="974"/>
                </a:spcBef>
                <a:spcAft>
                  <a:spcPts val="0"/>
                </a:spcAft>
                <a:buClr>
                  <a:srgbClr val="334155"/>
                </a:buClr>
                <a:buSzPts val="1190"/>
                <a:buFont typeface="Arial"/>
                <a:buChar char="●"/>
              </a:pPr>
              <a:r>
                <a:rPr b="1" lang="en" sz="119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Privacy Protection:</a:t>
              </a:r>
              <a:r>
                <a:rPr lang="en" sz="1190">
                  <a:solidFill>
                    <a:srgbClr val="334155"/>
                  </a:solidFill>
                </a:rPr>
                <a:t> Strictly defending student data security.</a:t>
              </a:r>
              <a:endParaRPr sz="1190">
                <a:solidFill>
                  <a:srgbClr val="334155"/>
                </a:solidFill>
              </a:endParaRPr>
            </a:p>
            <a:p>
              <a:pPr indent="0" lvl="0" marL="494692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90">
                <a:solidFill>
                  <a:srgbClr val="334155"/>
                </a:solidFill>
              </a:endParaRPr>
            </a:p>
            <a:p>
              <a:pPr indent="-322924" lvl="0" marL="494692" rtl="0" algn="l">
                <a:spcBef>
                  <a:spcPts val="0"/>
                </a:spcBef>
                <a:spcAft>
                  <a:spcPts val="0"/>
                </a:spcAft>
                <a:buClr>
                  <a:srgbClr val="334155"/>
                </a:buClr>
                <a:buSzPts val="1190"/>
                <a:buFont typeface="Arial"/>
                <a:buChar char="●"/>
              </a:pPr>
              <a:r>
                <a:rPr b="1" lang="en" sz="119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Transparency:</a:t>
              </a:r>
              <a:r>
                <a:rPr b="0" lang="en" sz="119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 Maximizing open practices and accountability in AI input and </a:t>
              </a:r>
              <a:r>
                <a:rPr lang="en" sz="1190">
                  <a:solidFill>
                    <a:srgbClr val="334155"/>
                  </a:solidFill>
                </a:rPr>
                <a:t>training.</a:t>
              </a:r>
              <a:endParaRPr b="0" sz="119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494692" rtl="0" algn="l">
                <a:spcBef>
                  <a:spcPts val="974"/>
                </a:spcBef>
                <a:spcAft>
                  <a:spcPts val="0"/>
                </a:spcAft>
                <a:buNone/>
              </a:pPr>
              <a:r>
                <a:t/>
              </a:r>
              <a:endParaRPr b="0" sz="119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Discussion</a:t>
            </a:r>
            <a:endParaRPr b="1"/>
          </a:p>
        </p:txBody>
      </p:sp>
      <p:sp>
        <p:nvSpPr>
          <p:cNvPr id="188" name="Google Shape;188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DBCC0738EEC624F9D360D04B21611FC" ma:contentTypeVersion="10" ma:contentTypeDescription="Create a new document." ma:contentTypeScope="" ma:versionID="828c8b696262cda1c9af7fd274053cec">
  <xsd:schema xmlns:xsd="http://www.w3.org/2001/XMLSchema" xmlns:xs="http://www.w3.org/2001/XMLSchema" xmlns:p="http://schemas.microsoft.com/office/2006/metadata/properties" xmlns:ns2="26245dc9-15bf-457b-b339-f3659df4a572" targetNamespace="http://schemas.microsoft.com/office/2006/metadata/properties" ma:root="true" ma:fieldsID="1df3aaf0a6983d0b626bd5c79f38f90f" ns2:_="">
    <xsd:import namespace="26245dc9-15bf-457b-b339-f3659df4a57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SearchProperties" minOccurs="0"/>
                <xsd:element ref="ns2:MediaServiceDateTaken" minOccurs="0"/>
                <xsd:element ref="ns2:MediaLengthInSeconds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6245dc9-15bf-457b-b339-f3659df4a57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3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1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19AD9844-5943-4DDE-8F00-639A7BA0B9D4}"/>
</file>

<file path=customXml/itemProps2.xml><?xml version="1.0" encoding="utf-8"?>
<ds:datastoreItem xmlns:ds="http://schemas.openxmlformats.org/officeDocument/2006/customXml" ds:itemID="{F8922507-AA54-4A70-A45F-4DA9D1E2886B}"/>
</file>

<file path=customXml/itemProps3.xml><?xml version="1.0" encoding="utf-8"?>
<ds:datastoreItem xmlns:ds="http://schemas.openxmlformats.org/officeDocument/2006/customXml" ds:itemID="{82FDCA66-4CF7-4E08-91EF-2B763C95C03F}"/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0x0101004DBCC0738EEC624F9D360D04B21611FC</vt:lpwstr>
  </property>
</Properties>
</file>