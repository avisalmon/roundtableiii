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6" r:id="rId10"/>
    <p:sldId id="267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36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4912-609F-39FE-5B80-D00BF892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02697-47FB-2275-59A3-1CBB5A19E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3AE0D-C0AC-1F42-4487-DF8A55825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1A0D3-0984-256B-ECD6-CC23824F3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28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7691-9A6A-DF03-BBE6-1A853A32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CAEC4-D376-B40B-CBEE-09AB39F2F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09EAA-EE5B-89D3-FE48-A5CE98A0E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C7DC9-ED85-C565-BA6F-9325CDA4D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67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Default or Design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Teacher's Role in the AI Era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D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System Architecture Problem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3090672"/>
            <a:ext cx="4114800" cy="36576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Danielle Eisenberg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Ignite/Ed Consulting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STEM Skills Roundtable — Meeting 4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6" y="-34290"/>
            <a:ext cx="3291840" cy="5143500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502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Danielle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Eisenberg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874520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2048256"/>
            <a:ext cx="2834640" cy="337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Ignite/Ed Consulting</a:t>
            </a: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Executive Director, Product Strategy: Skills for the Future, ETS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7116" y="364617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skills assessment systems,</a:t>
            </a:r>
            <a:endParaRPr lang="en-US" sz="1150" i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sz="1150" i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scoring, Competency</a:t>
            </a:r>
            <a:endParaRPr lang="en-US" sz="1150" i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sz="1150" i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transcripts</a:t>
            </a:r>
            <a:endParaRPr lang="en-US" sz="1150" i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566160" y="457200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designer — not a theorist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66160" y="960120"/>
            <a:ext cx="5029200" cy="36576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D6ED00E2-1CB8-8089-EA6D-A025A062BE32}"/>
              </a:ext>
            </a:extLst>
          </p:cNvPr>
          <p:cNvSpPr/>
          <p:nvPr/>
        </p:nvSpPr>
        <p:spPr>
          <a:xfrm>
            <a:off x="547116" y="236829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i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39B90B0-9E72-0ED9-4EA8-404E7AA0A846}"/>
              </a:ext>
            </a:extLst>
          </p:cNvPr>
          <p:cNvSpPr/>
          <p:nvPr/>
        </p:nvSpPr>
        <p:spPr>
          <a:xfrm>
            <a:off x="491356" y="2386113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Evaluation Strategy, Innovative Program Design, Data and Assessment Systems, Far Future Measurement</a:t>
            </a:r>
            <a:endParaRPr lang="en-US" sz="1150" i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3D0298-A6FF-1876-9E88-49FC6023CBBD}"/>
              </a:ext>
            </a:extLst>
          </p:cNvPr>
          <p:cNvSpPr txBox="1"/>
          <p:nvPr/>
        </p:nvSpPr>
        <p:spPr>
          <a:xfrm>
            <a:off x="3737570" y="1516665"/>
            <a:ext cx="4572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4D4D4C"/>
                </a:solidFill>
                <a:latin typeface="Calibri" pitchFamily="34" charset="0"/>
                <a:cs typeface="Calibri" pitchFamily="34" charset="-120"/>
              </a:rPr>
              <a:t>A commitment to ensuring that the tools, strategies, and interventions we put in front of ALL students are evidence-based and impactful.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4D4D4C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4D4D4C"/>
                </a:solidFill>
                <a:latin typeface="Calibri" pitchFamily="34" charset="0"/>
                <a:cs typeface="Calibri" pitchFamily="34" charset="-120"/>
              </a:rPr>
              <a:t>25 years working in education systems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4D4D4C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4D4D4C"/>
                </a:solidFill>
                <a:latin typeface="Calibri" pitchFamily="34" charset="0"/>
                <a:cs typeface="Calibri" pitchFamily="34" charset="-120"/>
              </a:rPr>
              <a:t>14 years running research, evaluation, data, and assessment for the US’s largest Charter School network (KIPP)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4D4D4C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4D4D4C"/>
                </a:solidFill>
                <a:latin typeface="Calibri" pitchFamily="34" charset="0"/>
                <a:cs typeface="Calibri" pitchFamily="34" charset="-120"/>
              </a:rPr>
              <a:t>Consulting clients include Walton Foundation, Charter School Growth Fund, ETS, and many school networks.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D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FOR OUR DISCUSSION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return to these at the end.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4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70432" y="1078992"/>
            <a:ext cx="36576" cy="566928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0241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look like for a teacher to govern the student–AI layer — not just permit or prohibit it?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70432" y="2386584"/>
            <a:ext cx="36576" cy="566928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AI use. We cannot yet see the thinking around it. What would it take — in assessment, policy, practice — to make that learning visible?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593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70432" y="3694176"/>
            <a:ext cx="36576" cy="566928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639312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students augment with AI; disadvantaged students replace thinking. If equity depends on design, who is responsible — and what authority do they have?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is not a tool we insert into a system.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role-fluid agent — and the system is already layered.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simultaneously act as: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70432" cy="329184"/>
          </a:xfrm>
          <a:prstGeom prst="roundRect">
            <a:avLst>
              <a:gd name="adj" fmla="val 27778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93095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19072" y="18379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being learned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70432" cy="329184"/>
          </a:xfrm>
          <a:prstGeom prst="roundRect">
            <a:avLst>
              <a:gd name="adj" fmla="val 27778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3484" y="238658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9072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&amp; scaffolding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" y="2816788"/>
            <a:ext cx="1170432" cy="329184"/>
          </a:xfrm>
          <a:prstGeom prst="roundRect">
            <a:avLst>
              <a:gd name="adj" fmla="val 27778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4340" y="278892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19072" y="2889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&amp; giving feedback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45398"/>
            <a:ext cx="1170432" cy="329184"/>
          </a:xfrm>
          <a:prstGeom prst="roundRect">
            <a:avLst>
              <a:gd name="adj" fmla="val 27778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34539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33284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co-creating with the student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05072" y="1097280"/>
            <a:ext cx="36576" cy="37490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12618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layered — not triangular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1960" y="1719072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51960" y="17190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↔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79222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Unavoidable — happening now, with or without school's permission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246888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51960" y="2468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↔ Student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54203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Irreplaceable — trust, mentorship, identity, motivation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51960" y="321868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51960" y="3218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↔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2918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Underspecified — this is the new professional role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07408" y="425196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system only works if the interaction between the layers.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7375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Fan meta-analysis (2025), Nature H&amp;SS — teacher-scaffolded AI use → stronger outcomes; independent use → dependency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Without intentional design, three failure modes are already observable.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1041545"/>
            <a:ext cx="7406640" cy="896112"/>
          </a:xfrm>
          <a:prstGeom prst="rect">
            <a:avLst/>
          </a:prstGeom>
          <a:solidFill>
            <a:srgbClr val="F7F9FA"/>
          </a:solidFill>
          <a:ln w="6350">
            <a:solidFill>
              <a:srgbClr val="E0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64208" y="1033272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Offloading — </a:t>
            </a:r>
            <a:r>
              <a:rPr lang="en-US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confidence in AI → less critical thinking effort, not more.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64208" y="1654193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al., Microsoft Research / CHI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914400" cy="896112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664208" y="1984248"/>
            <a:ext cx="74066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64208" y="2176272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Erosion — </a:t>
            </a:r>
            <a:r>
              <a:rPr lang="en-US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students feel less connected to teachers when using AI — preferring AI because "it's not going to judge you."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64208" y="2796758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/ Education Week 2025 · Univ. of Pittsburgh / Fast Company 2025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914400" cy="896112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481328" y="3246120"/>
            <a:ext cx="7406640" cy="896112"/>
          </a:xfrm>
          <a:prstGeom prst="rect">
            <a:avLst/>
          </a:prstGeom>
          <a:solidFill>
            <a:srgbClr val="F7F9FA"/>
          </a:solidFill>
          <a:ln w="6350">
            <a:solidFill>
              <a:srgbClr val="E0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64208" y="3319271"/>
            <a:ext cx="7040880" cy="604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Inequity — </a:t>
            </a:r>
            <a:r>
              <a:rPr lang="en-US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students augment. Disadvantaged students replace thinking. Same tool — opposite outcome.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64208" y="3927348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Brookings Global Task Force (2026) · brookings.edu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8412480" cy="502920"/>
          </a:xfrm>
          <a:prstGeom prst="rect">
            <a:avLst/>
          </a:prstGeom>
          <a:solidFill>
            <a:srgbClr val="FEF0EB"/>
          </a:solidFill>
          <a:ln w="9525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4315968"/>
            <a:ext cx="808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</a:t>
            </a:r>
            <a:r>
              <a:rPr lang="en-US" sz="9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Academy's own founder on Khanmigo: </a:t>
            </a:r>
            <a:r>
              <a:rPr lang="en-US" sz="950" i="1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a lot of students, it was a non-event. They just didn't use it much."  </a:t>
            </a: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pivot: "Our biggest lever is investing in the human systems."  — Barnum, Chalkbeat, April 9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hardest part isn't the AI. It's seeing what learning is actually happening inside it.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47472" cy="347472"/>
          </a:xfrm>
          <a:prstGeom prst="ellipse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408176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— teacher-led, triangle, direct — lose the same thing without new assessment: visibility into process, not just products.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347472" cy="347472"/>
          </a:xfrm>
          <a:prstGeom prst="ellipse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157984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assessment measures outputs. It cannot detect shallow AI use, equity gaps, or whether the triangle is actually producing learning.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347472" cy="347472"/>
          </a:xfrm>
          <a:prstGeom prst="ellipse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907792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cannot see, you cannot improve — and you cannot hold accountable for equity.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24128"/>
            <a:ext cx="36576" cy="37490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078992"/>
            <a:ext cx="421059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IT REVEALS (SFF Project)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389888"/>
            <a:ext cx="347472" cy="347472"/>
          </a:xfrm>
          <a:prstGeom prst="ellipse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140817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signal, not noise. </a:t>
            </a: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only exist meaningfully in context — our AI engine is built to ingest it, not strip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139696"/>
            <a:ext cx="347472" cy="347472"/>
          </a:xfrm>
          <a:prstGeom prst="ellipse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15798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Teachers decide. </a:t>
            </a: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skill evidence with confidence ratings. The teacher — who knows this student — is the interpretive layer.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9504"/>
            <a:ext cx="347472" cy="347472"/>
          </a:xfrm>
          <a:prstGeom prst="ellipse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29077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beat single artifacts. </a:t>
            </a: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essay is weak signal. A notebook + reflection + peer review, read together, produce something defensible.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(2021) Frontiers in Psychology — teacher credibility directly predicts learning outcomes  |  doi.org/10.3389/fpsyg.2021.712419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looks like in practice – SFF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The teacher — who knows the student and the context — decides.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9264" y="122529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student work enters as evidence — artifact type shapes evidential weight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883664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skills with confidence ratings — teacher accepts, overrides, or adjusts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542032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Subskill ratings flagged AI-observed — teacher judgment is structurally required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39312" cy="1060704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3493008"/>
            <a:ext cx="33467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reducing cognitive load of evidence review so teachers invest judgment where it matters most.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987552"/>
            <a:ext cx="4572000" cy="1664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315968" y="2633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→ educator confirms or overrides</a:t>
            </a:r>
            <a:endParaRPr lang="en-US" sz="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834640"/>
            <a:ext cx="4572000" cy="16642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15968" y="44805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AI-observed flag on subskills → educator adjusts</a:t>
            </a:r>
            <a:endParaRPr lang="en-US" sz="8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74506651-2167-3C4C-814A-D2621E0835D9}"/>
              </a:ext>
            </a:extLst>
          </p:cNvPr>
          <p:cNvSpPr/>
          <p:nvPr/>
        </p:nvSpPr>
        <p:spPr>
          <a:xfrm>
            <a:off x="457199" y="4477512"/>
            <a:ext cx="6257109" cy="554736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rgbClr val="D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simulations or “direct assessments” w/ students used to boost evidence  &amp; validity signal and elicit more evidence and context for student skill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There are two triangles — and they must be designed together.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48056" y="1263396"/>
            <a:ext cx="3840480" cy="347472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247721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TRIANGLE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46320" y="1220506"/>
            <a:ext cx="3840480" cy="347472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0" y="122965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TRIANGLE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96900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690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↔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0238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learning interaction — already happening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" y="277063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↔ Student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773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Mentorship, trust, motivation — irreplaceable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6862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" y="3450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↔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5234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the interaction — the underspecified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4528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855464" y="194462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3168" y="1942011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9984" y="199948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evidence, rates confidence — explicit audit trail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55464" y="269443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55464" y="2697045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interprets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9984" y="274929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contextual knowledge AI cannot hold — calibrates meaning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55464" y="344424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4533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aggregates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349910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Cross-artifact patterns build defensible cumulative evidence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This is how we keep humans in the loop where context matters most — by design, not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16F0A-8D15-92BF-0FD2-F4A5E0D6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B326E6-D05C-9010-84F9-46972AB3110B}"/>
              </a:ext>
            </a:extLst>
          </p:cNvPr>
          <p:cNvSpPr/>
          <p:nvPr/>
        </p:nvSpPr>
        <p:spPr>
          <a:xfrm>
            <a:off x="548640" y="27432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D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FOR OUR DISCUSSION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DCFA58-A079-D35F-3664-3BD7B3AB1E1B}"/>
              </a:ext>
            </a:extLst>
          </p:cNvPr>
          <p:cNvSpPr/>
          <p:nvPr/>
        </p:nvSpPr>
        <p:spPr>
          <a:xfrm>
            <a:off x="548640" y="5852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4509E0-84E5-2749-9FBB-15CA50C9A1CA}"/>
              </a:ext>
            </a:extLst>
          </p:cNvPr>
          <p:cNvSpPr/>
          <p:nvPr/>
        </p:nvSpPr>
        <p:spPr>
          <a:xfrm>
            <a:off x="457200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4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2D75F3-37C3-21B5-7EFF-BDAC1868EB61}"/>
              </a:ext>
            </a:extLst>
          </p:cNvPr>
          <p:cNvSpPr/>
          <p:nvPr/>
        </p:nvSpPr>
        <p:spPr>
          <a:xfrm>
            <a:off x="1170432" y="1078992"/>
            <a:ext cx="36576" cy="566928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70FDBE-882E-58D3-24EC-D70574FA7795}"/>
              </a:ext>
            </a:extLst>
          </p:cNvPr>
          <p:cNvSpPr/>
          <p:nvPr/>
        </p:nvSpPr>
        <p:spPr>
          <a:xfrm>
            <a:off x="1371600" y="10241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look like for a teacher to govern the student–AI layer — not just permit or prohibit it?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3849F6-76D9-6E77-79A5-59C1AD5B9CB2}"/>
              </a:ext>
            </a:extLst>
          </p:cNvPr>
          <p:cNvSpPr/>
          <p:nvPr/>
        </p:nvSpPr>
        <p:spPr>
          <a:xfrm>
            <a:off x="457200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27835FA-26D9-1D70-B778-06AC41634609}"/>
              </a:ext>
            </a:extLst>
          </p:cNvPr>
          <p:cNvSpPr/>
          <p:nvPr/>
        </p:nvSpPr>
        <p:spPr>
          <a:xfrm>
            <a:off x="1170432" y="2386584"/>
            <a:ext cx="36576" cy="566928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DE7385-DBB1-A8DA-5A08-92930537045F}"/>
              </a:ext>
            </a:extLst>
          </p:cNvPr>
          <p:cNvSpPr/>
          <p:nvPr/>
        </p:nvSpPr>
        <p:spPr>
          <a:xfrm>
            <a:off x="1371600" y="23317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AI use. We cannot yet see the thinking around it. What would it take — in assessment, policy, practice — to make that learning visible?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B867FBD-FABF-018B-4313-065CB9865BA1}"/>
              </a:ext>
            </a:extLst>
          </p:cNvPr>
          <p:cNvSpPr/>
          <p:nvPr/>
        </p:nvSpPr>
        <p:spPr>
          <a:xfrm>
            <a:off x="457200" y="3593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14A4AD-7793-3484-C544-CB8FCFB23D9E}"/>
              </a:ext>
            </a:extLst>
          </p:cNvPr>
          <p:cNvSpPr/>
          <p:nvPr/>
        </p:nvSpPr>
        <p:spPr>
          <a:xfrm>
            <a:off x="1170432" y="3694176"/>
            <a:ext cx="36576" cy="566928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8E1FBC8-2910-04ED-7A57-3210CC9AAC67}"/>
              </a:ext>
            </a:extLst>
          </p:cNvPr>
          <p:cNvSpPr/>
          <p:nvPr/>
        </p:nvSpPr>
        <p:spPr>
          <a:xfrm>
            <a:off x="1371600" y="3639312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students augment with AI; disadvantaged students replace thinking. If equity depends on design, who is responsible — and what authority do they have?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51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DB48-70FA-EF69-ABBF-4EB63797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BFFF2A-7745-86C2-BABF-0FBC69C8A966}"/>
              </a:ext>
            </a:extLst>
          </p:cNvPr>
          <p:cNvSpPr/>
          <p:nvPr/>
        </p:nvSpPr>
        <p:spPr>
          <a:xfrm>
            <a:off x="112776" y="-34290"/>
            <a:ext cx="3291840" cy="5143500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345F38-8FF3-85B7-AB89-D21DA449A0CC}"/>
              </a:ext>
            </a:extLst>
          </p:cNvPr>
          <p:cNvSpPr/>
          <p:nvPr/>
        </p:nvSpPr>
        <p:spPr>
          <a:xfrm>
            <a:off x="256032" y="502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Appendix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F93D06-055B-A785-2425-6AD4DD87269C}"/>
              </a:ext>
            </a:extLst>
          </p:cNvPr>
          <p:cNvSpPr/>
          <p:nvPr/>
        </p:nvSpPr>
        <p:spPr>
          <a:xfrm>
            <a:off x="256032" y="1874520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39B8FC-CD52-E9DB-2592-08CD1C90B993}"/>
              </a:ext>
            </a:extLst>
          </p:cNvPr>
          <p:cNvSpPr/>
          <p:nvPr/>
        </p:nvSpPr>
        <p:spPr>
          <a:xfrm>
            <a:off x="35661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7D68878-6599-E0FA-9698-C1A7BAED1B29}"/>
              </a:ext>
            </a:extLst>
          </p:cNvPr>
          <p:cNvSpPr/>
          <p:nvPr/>
        </p:nvSpPr>
        <p:spPr>
          <a:xfrm>
            <a:off x="356616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F8DCC96-7845-311D-0E3A-DC8736CA5E4D}"/>
              </a:ext>
            </a:extLst>
          </p:cNvPr>
          <p:cNvSpPr/>
          <p:nvPr/>
        </p:nvSpPr>
        <p:spPr>
          <a:xfrm>
            <a:off x="35661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AA012E4-3687-9D7E-8CF8-65685F0C551A}"/>
              </a:ext>
            </a:extLst>
          </p:cNvPr>
          <p:cNvSpPr/>
          <p:nvPr/>
        </p:nvSpPr>
        <p:spPr>
          <a:xfrm>
            <a:off x="35661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6300F07-F8E7-60AC-8573-83DAB063BF24}"/>
              </a:ext>
            </a:extLst>
          </p:cNvPr>
          <p:cNvSpPr/>
          <p:nvPr/>
        </p:nvSpPr>
        <p:spPr>
          <a:xfrm>
            <a:off x="547116" y="236829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883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Equity, Implications, and Where We 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36576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041648" cy="1261872"/>
          </a:xfrm>
          <a:prstGeom prst="rect">
            <a:avLst/>
          </a:prstGeom>
          <a:solidFill>
            <a:srgbClr val="D6EAEE"/>
          </a:solidFill>
          <a:ln w="9525">
            <a:solidFill>
              <a:srgbClr val="00799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3504" y="896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" y="1188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Two Sigma (1984): 1:1 tutoring = 2 SD improvement. AI as personal tutor could be the most democratizing force in education history.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36592" y="859536"/>
            <a:ext cx="4041648" cy="1261872"/>
          </a:xfrm>
          <a:prstGeom prst="rect">
            <a:avLst/>
          </a:prstGeom>
          <a:solidFill>
            <a:srgbClr val="FEF0EB"/>
          </a:solidFill>
          <a:ln w="9525">
            <a:solidFill>
              <a:srgbClr val="E0542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19472" y="896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4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9472" y="118872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students augment. Disadvantaged students replace thinking. Same tool — opposite outcome. This is a design failure.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19472" y="18470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Brookings Global Task Force (2026) · 50 countries · brookings.edu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2670048" cy="274320"/>
          </a:xfrm>
          <a:prstGeom prst="rect">
            <a:avLst/>
          </a:prstGeom>
          <a:solidFill>
            <a:srgbClr val="007995"/>
          </a:solidFill>
          <a:ln w="12700">
            <a:solidFill>
              <a:srgbClr val="007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494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2670048" cy="1723644"/>
          </a:xfrm>
          <a:prstGeom prst="rect">
            <a:avLst/>
          </a:prstGeom>
          <a:solidFill>
            <a:srgbClr val="F7F9FA"/>
          </a:solidFill>
          <a:ln w="6350">
            <a:solidFill>
              <a:srgbClr val="E0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" y="2596896"/>
            <a:ext cx="241401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teacher's role as system designer
</a:t>
            </a:r>
            <a:r>
              <a:rPr lang="en-US" sz="1400" b="1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assessment infrastructure that sees inside learning
</a:t>
            </a:r>
            <a:r>
              <a:rPr lang="en-US" sz="1400" b="1" dirty="0">
                <a:solidFill>
                  <a:srgbClr val="007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AI as a policy lever — with equity guardrails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82696" y="2249424"/>
            <a:ext cx="2670048" cy="274320"/>
          </a:xfrm>
          <a:prstGeom prst="rect">
            <a:avLst/>
          </a:prstGeom>
          <a:solidFill>
            <a:srgbClr val="E0542F"/>
          </a:solidFill>
          <a:ln w="12700">
            <a:solidFill>
              <a:srgbClr val="E05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82696" y="22494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82696" y="2523744"/>
            <a:ext cx="2670048" cy="1647662"/>
          </a:xfrm>
          <a:prstGeom prst="rect">
            <a:avLst/>
          </a:prstGeom>
          <a:solidFill>
            <a:srgbClr val="F7F9FA"/>
          </a:solidFill>
          <a:ln w="6350">
            <a:solidFill>
              <a:srgbClr val="E0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10712" y="2596896"/>
            <a:ext cx="241401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as core architecture, not compliance
</a:t>
            </a:r>
            <a:r>
              <a:rPr lang="en-US" sz="14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margins first
</a:t>
            </a:r>
            <a:r>
              <a:rPr lang="en-US" sz="1400" b="1" dirty="0">
                <a:solidFill>
                  <a:srgbClr val="E0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demonstration from confidence level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08192" y="2249424"/>
            <a:ext cx="2670048" cy="274320"/>
          </a:xfrm>
          <a:prstGeom prst="rect">
            <a:avLst/>
          </a:prstGeom>
          <a:solidFill>
            <a:srgbClr val="4D4D4C"/>
          </a:solidFill>
          <a:ln w="12700">
            <a:solidFill>
              <a:srgbClr val="4D4D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08192" y="22494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SYSTEMS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2523743"/>
            <a:ext cx="2670048" cy="1647661"/>
          </a:xfrm>
          <a:prstGeom prst="rect">
            <a:avLst/>
          </a:prstGeom>
          <a:solidFill>
            <a:srgbClr val="F7F9FA"/>
          </a:solidFill>
          <a:ln w="6350">
            <a:solidFill>
              <a:srgbClr val="E0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2596896"/>
            <a:ext cx="241401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teachers in evidence design, not just AI tools
</a:t>
            </a:r>
            <a:r>
              <a:rPr lang="en-US" sz="1200" b="1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time for contextual judgment
</a:t>
            </a:r>
            <a:r>
              <a:rPr lang="en-US" sz="1200" b="1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4D4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navigation as a core STEM competency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BCC0738EEC624F9D360D04B21611FC" ma:contentTypeVersion="10" ma:contentTypeDescription="Create a new document." ma:contentTypeScope="" ma:versionID="828c8b696262cda1c9af7fd274053cec">
  <xsd:schema xmlns:xsd="http://www.w3.org/2001/XMLSchema" xmlns:xs="http://www.w3.org/2001/XMLSchema" xmlns:p="http://schemas.microsoft.com/office/2006/metadata/properties" xmlns:ns2="26245dc9-15bf-457b-b339-f3659df4a572" targetNamespace="http://schemas.microsoft.com/office/2006/metadata/properties" ma:root="true" ma:fieldsID="1df3aaf0a6983d0b626bd5c79f38f90f" ns2:_="">
    <xsd:import namespace="26245dc9-15bf-457b-b339-f3659df4a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245dc9-15bf-457b-b339-f3659df4a5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135D90-4327-40C6-998E-8DE0318FCB8C}"/>
</file>

<file path=customXml/itemProps2.xml><?xml version="1.0" encoding="utf-8"?>
<ds:datastoreItem xmlns:ds="http://schemas.openxmlformats.org/officeDocument/2006/customXml" ds:itemID="{31EB12FC-6BA4-4BBA-8B8F-2B6772635E82}"/>
</file>

<file path=customXml/itemProps3.xml><?xml version="1.0" encoding="utf-8"?>
<ds:datastoreItem xmlns:ds="http://schemas.openxmlformats.org/officeDocument/2006/customXml" ds:itemID="{F35585AC-9E8E-442A-A6A2-A1C75C99205B}"/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1229</Words>
  <Application>Microsoft Macintosh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Default or Design</dc:title>
  <dc:subject>PptxGenJS Presentation</dc:subject>
  <dc:creator>PptxGenJS</dc:creator>
  <cp:lastModifiedBy>Eisenberg, Danielle</cp:lastModifiedBy>
  <cp:revision>2</cp:revision>
  <dcterms:created xsi:type="dcterms:W3CDTF">2026-04-27T01:16:49Z</dcterms:created>
  <dcterms:modified xsi:type="dcterms:W3CDTF">2026-04-27T02:00:51Z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0x0101004DBCC0738EEC624F9D360D04B21611FC</vt:lpwstr>
  </property>
</Properties>
</file>