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9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9.jpg" ContentType="image/jpeg"/>
  <Override PartName="/ppt/media/image20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63" r:id="rId6"/>
    <p:sldId id="276" r:id="rId7"/>
    <p:sldId id="259" r:id="rId8"/>
    <p:sldId id="265" r:id="rId9"/>
    <p:sldId id="5023" r:id="rId10"/>
    <p:sldId id="5024" r:id="rId11"/>
    <p:sldId id="257" r:id="rId12"/>
    <p:sldId id="278" r:id="rId13"/>
    <p:sldId id="277" r:id="rId14"/>
    <p:sldId id="270" r:id="rId15"/>
    <p:sldId id="261" r:id="rId16"/>
  </p:sldIdLst>
  <p:sldSz cx="18288000" cy="10287000"/>
  <p:notesSz cx="6858000" cy="9144000"/>
  <p:embeddedFontLst>
    <p:embeddedFont>
      <p:font typeface="Trebuchet MS" panose="020B0603020202020204" pitchFamily="34" charset="0"/>
      <p:regular r:id="rId18"/>
      <p:bold r:id="rId19"/>
      <p:italic r:id="rId20"/>
      <p:boldItalic r:id="rId21"/>
    </p:embeddedFont>
    <p:embeddedFont>
      <p:font typeface="Urbanist" panose="020B0604020202020204" charset="0"/>
      <p:regular r:id="rId22"/>
      <p:bold r:id="rId23"/>
      <p:italic r:id="rId24"/>
      <p:boldItalic r:id="rId25"/>
    </p:embeddedFont>
    <p:embeddedFont>
      <p:font typeface="Urbanist Black" panose="020B0604020202020204" charset="0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ixEae8hBYohvT3x3J6muGNqB8w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573" autoAdjust="0"/>
    <p:restoredTop sz="94651"/>
  </p:normalViewPr>
  <p:slideViewPr>
    <p:cSldViewPr snapToGrid="0">
      <p:cViewPr varScale="1">
        <p:scale>
          <a:sx n="49" d="100"/>
          <a:sy n="49" d="100"/>
        </p:scale>
        <p:origin x="29" y="3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43" Type="http://customschemas.google.com/relationships/presentationmetadata" Target="meta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1527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7953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14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ABF6-778B-F1C3-A43F-8FB70948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3FE33-187C-6195-7756-89AF52022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BE8E5-FB77-0EFA-BB82-C8C7C0385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227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13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992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temecosystems.org/" TargetMode="External"/><Relationship Id="rId5" Type="http://schemas.openxmlformats.org/officeDocument/2006/relationships/hyperlink" Target="http://www.tiesteach.org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rive.google.com/file/d/1gmobAz3ORiOoVTE43pewvClJzULRiYox/view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hyperlink" Target="https://drive.google.com/file/d/1gmobAz3ORiOoVTE43pewvClJzULRiYox/vie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gmobAz3ORiOoVTE43pewvClJzULRiYox/view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755045" y="592711"/>
            <a:ext cx="2219264" cy="2248104"/>
          </a:xfrm>
          <a:custGeom>
            <a:avLst/>
            <a:gdLst/>
            <a:ahLst/>
            <a:cxnLst/>
            <a:rect l="l" t="t" r="r" b="b"/>
            <a:pathLst>
              <a:path w="2219264" h="2248104" extrusionOk="0">
                <a:moveTo>
                  <a:pt x="0" y="0"/>
                </a:moveTo>
                <a:lnTo>
                  <a:pt x="2219264" y="0"/>
                </a:lnTo>
                <a:lnTo>
                  <a:pt x="2219264" y="2248103"/>
                </a:lnTo>
                <a:lnTo>
                  <a:pt x="0" y="2248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015" t="-2137" r="-201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/>
          <p:cNvSpPr/>
          <p:nvPr/>
        </p:nvSpPr>
        <p:spPr>
          <a:xfrm>
            <a:off x="8655269" y="3129508"/>
            <a:ext cx="9632730" cy="7157492"/>
          </a:xfrm>
          <a:custGeom>
            <a:avLst/>
            <a:gdLst/>
            <a:ahLst/>
            <a:cxnLst/>
            <a:rect l="l" t="t" r="r" b="b"/>
            <a:pathLst>
              <a:path w="10052676" h="7157492" extrusionOk="0">
                <a:moveTo>
                  <a:pt x="0" y="0"/>
                </a:moveTo>
                <a:lnTo>
                  <a:pt x="10052676" y="0"/>
                </a:lnTo>
                <a:lnTo>
                  <a:pt x="10052676" y="7157492"/>
                </a:lnTo>
                <a:lnTo>
                  <a:pt x="0" y="7157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6017" t="-42271" r="-2601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6" name="Google Shape;86;p1"/>
          <p:cNvGrpSpPr/>
          <p:nvPr/>
        </p:nvGrpSpPr>
        <p:grpSpPr>
          <a:xfrm>
            <a:off x="1047412" y="1164039"/>
            <a:ext cx="11977817" cy="8730681"/>
            <a:chOff x="47" y="-390525"/>
            <a:chExt cx="15970423" cy="11640907"/>
          </a:xfrm>
        </p:grpSpPr>
        <p:sp>
          <p:nvSpPr>
            <p:cNvPr id="87" name="Google Shape;87;p1"/>
            <p:cNvSpPr txBox="1"/>
            <p:nvPr/>
          </p:nvSpPr>
          <p:spPr>
            <a:xfrm>
              <a:off x="47" y="-390525"/>
              <a:ext cx="15970423" cy="57917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162"/>
                <a:buFont typeface="Arial"/>
                <a:buNone/>
              </a:pPr>
              <a:r>
                <a:rPr lang="en-US" sz="20162" b="1" i="0" u="none" strike="noStrike" cap="none" dirty="0">
                  <a:solidFill>
                    <a:srgbClr val="275162"/>
                  </a:solidFill>
                  <a:latin typeface="Urbanist Black"/>
                  <a:ea typeface="Urbanist Black"/>
                  <a:cs typeface="Urbanist Black"/>
                  <a:sym typeface="Urbanist Black"/>
                </a:rPr>
                <a:t>TIES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" name="Google Shape;88;p1"/>
            <p:cNvCxnSpPr/>
            <p:nvPr/>
          </p:nvCxnSpPr>
          <p:spPr>
            <a:xfrm>
              <a:off x="47" y="4359097"/>
              <a:ext cx="11890598" cy="10937"/>
            </a:xfrm>
            <a:prstGeom prst="straightConnector1">
              <a:avLst/>
            </a:prstGeom>
            <a:noFill/>
            <a:ln w="101600" cap="flat" cmpd="sng">
              <a:solidFill>
                <a:srgbClr val="BE4B1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9" name="Google Shape;89;p1"/>
            <p:cNvSpPr txBox="1"/>
            <p:nvPr/>
          </p:nvSpPr>
          <p:spPr>
            <a:xfrm>
              <a:off x="47" y="4392265"/>
              <a:ext cx="14006006" cy="6858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4"/>
                </a:lnSpc>
                <a:buSzPts val="4187"/>
              </a:pPr>
              <a:r>
                <a:rPr lang="en-US" sz="4187" b="1" i="1" dirty="0">
                  <a:solidFill>
                    <a:srgbClr val="545454"/>
                  </a:solidFill>
                  <a:latin typeface="Urbanist Black"/>
                  <a:ea typeface="Urbanist Black"/>
                  <a:cs typeface="Urbanist Black"/>
                  <a:sym typeface="Urbanist Black"/>
                </a:rPr>
                <a:t>Education System Perspective</a:t>
              </a:r>
            </a:p>
            <a:p>
              <a:pPr lvl="0">
                <a:lnSpc>
                  <a:spcPct val="140004"/>
                </a:lnSpc>
                <a:buSzPts val="4187"/>
              </a:pPr>
              <a:endParaRPr lang="en-US" sz="800" b="1" dirty="0">
                <a:solidFill>
                  <a:srgbClr val="545454"/>
                </a:solidFill>
                <a:latin typeface="Urbanist Black"/>
                <a:ea typeface="Urbanist Black"/>
                <a:cs typeface="Urbanist Black"/>
                <a:sym typeface="Urbanist Black"/>
              </a:endParaRPr>
            </a:p>
            <a:p>
              <a:pPr lvl="0">
                <a:lnSpc>
                  <a:spcPct val="140004"/>
                </a:lnSpc>
                <a:buSzPts val="4187"/>
              </a:pPr>
              <a:r>
                <a:rPr lang="en-US" sz="3600" b="1" dirty="0">
                  <a:solidFill>
                    <a:srgbClr val="545454"/>
                  </a:solidFill>
                  <a:latin typeface="Urbanist Black"/>
                  <a:ea typeface="Urbanist Black"/>
                  <a:cs typeface="Urbanist Black"/>
                  <a:sym typeface="Urbanist Black"/>
                </a:rPr>
                <a:t>International STEM Skills Round Table </a:t>
              </a:r>
            </a:p>
            <a:p>
              <a:pPr lvl="0">
                <a:lnSpc>
                  <a:spcPct val="140004"/>
                </a:lnSpc>
                <a:buSzPts val="4187"/>
              </a:pPr>
              <a:r>
                <a:rPr lang="en-US" sz="3600" b="1" dirty="0">
                  <a:solidFill>
                    <a:srgbClr val="545454"/>
                  </a:solidFill>
                  <a:latin typeface="Urbanist Black"/>
                  <a:ea typeface="Urbanist Black"/>
                  <a:cs typeface="Urbanist Black"/>
                  <a:sym typeface="Urbanist Black"/>
                </a:rPr>
                <a:t>Phase III – 2nd meeting</a:t>
              </a:r>
            </a:p>
            <a:p>
              <a:pPr lvl="0">
                <a:lnSpc>
                  <a:spcPct val="140004"/>
                </a:lnSpc>
                <a:buSzPts val="4187"/>
              </a:pPr>
              <a:r>
                <a:rPr lang="en-US" sz="3600" dirty="0">
                  <a:solidFill>
                    <a:srgbClr val="545454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  <a:sym typeface="Urbanist Black"/>
                </a:rPr>
                <a:t>Jan Morrison, CEO, TIES</a:t>
              </a:r>
            </a:p>
            <a:p>
              <a:pPr lvl="0">
                <a:lnSpc>
                  <a:spcPct val="140004"/>
                </a:lnSpc>
                <a:buSzPts val="4187"/>
              </a:pPr>
              <a:r>
                <a:rPr lang="en-US" sz="2400" u="sng" dirty="0">
                  <a:solidFill>
                    <a:srgbClr val="3C78D8"/>
                  </a:solidFill>
                  <a:latin typeface="Urbanist"/>
                  <a:ea typeface="Urbanist"/>
                  <a:cs typeface="Urbanist"/>
                  <a:sym typeface="Urbanist"/>
                  <a:hlinkClick r:id="rId5"/>
                </a:rPr>
                <a:t>www.tiesteach.org</a:t>
              </a:r>
              <a:endParaRPr lang="en-US" sz="2400" u="sng" dirty="0">
                <a:solidFill>
                  <a:srgbClr val="3C78D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marR="0" lvl="0" indent="0" algn="l" rtl="0">
                <a:lnSpc>
                  <a:spcPct val="14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7"/>
                <a:buFont typeface="Arial"/>
                <a:buNone/>
              </a:pPr>
              <a:r>
                <a:rPr lang="en-US" sz="2400" u="sng" dirty="0">
                  <a:solidFill>
                    <a:srgbClr val="3C78D8"/>
                  </a:solidFill>
                  <a:latin typeface="Urbanist"/>
                  <a:ea typeface="Urbanist"/>
                  <a:cs typeface="Urbanist"/>
                  <a:sym typeface="Urbanist"/>
                  <a:hlinkClick r:id="rId6"/>
                </a:rPr>
                <a:t>www.stemecosystems.org</a:t>
              </a:r>
              <a:endParaRPr lang="en-US" sz="2400" u="sng" dirty="0">
                <a:solidFill>
                  <a:srgbClr val="3C78D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marR="0" lvl="0" indent="0" algn="l" rtl="0">
                <a:lnSpc>
                  <a:spcPct val="14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7"/>
                <a:buFont typeface="Arial"/>
                <a:buNone/>
              </a:pPr>
              <a:endParaRPr sz="3287" dirty="0">
                <a:solidFill>
                  <a:srgbClr val="3C78D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4290899" y="9589578"/>
            <a:ext cx="560442" cy="586674"/>
          </a:xfrm>
          <a:custGeom>
            <a:avLst/>
            <a:gdLst/>
            <a:ahLst/>
            <a:cxnLst/>
            <a:rect l="l" t="t" r="r" b="b"/>
            <a:pathLst>
              <a:path w="560442" h="586674" extrusionOk="0">
                <a:moveTo>
                  <a:pt x="0" y="0"/>
                </a:moveTo>
                <a:lnTo>
                  <a:pt x="560442" y="0"/>
                </a:lnTo>
                <a:lnTo>
                  <a:pt x="560442" y="586674"/>
                </a:lnTo>
                <a:lnTo>
                  <a:pt x="0" y="586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Google Shape;91;p1"/>
          <p:cNvSpPr txBox="1"/>
          <p:nvPr/>
        </p:nvSpPr>
        <p:spPr>
          <a:xfrm>
            <a:off x="4874373" y="9397741"/>
            <a:ext cx="14828400" cy="41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endParaRPr lang="en-US" sz="1340" b="1" i="0" u="none" strike="noStrike" cap="none" dirty="0">
              <a:solidFill>
                <a:srgbClr val="275162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i="0" u="none" strike="noStrike" cap="none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www.tiesteach.org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874373" y="9676705"/>
            <a:ext cx="14828400" cy="41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endParaRPr lang="en-US" sz="1340" b="1" dirty="0">
              <a:solidFill>
                <a:srgbClr val="275162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All Rights Reserved,  December, 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3489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650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5625" y="5143500"/>
            <a:ext cx="11902374" cy="51434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0"/>
            <a:ext cx="6386195" cy="9555480"/>
            <a:chOff x="0" y="0"/>
            <a:chExt cx="6386195" cy="955548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6386195" cy="5143500"/>
            </a:xfrm>
            <a:custGeom>
              <a:avLst/>
              <a:gdLst/>
              <a:ahLst/>
              <a:cxnLst/>
              <a:rect l="l" t="t" r="r" b="b"/>
              <a:pathLst>
                <a:path w="6386195" h="5143500">
                  <a:moveTo>
                    <a:pt x="6385626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6385626" y="0"/>
                  </a:lnTo>
                  <a:lnTo>
                    <a:pt x="6385626" y="5143500"/>
                  </a:lnTo>
                  <a:close/>
                </a:path>
              </a:pathLst>
            </a:custGeom>
            <a:solidFill>
              <a:srgbClr val="FBF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1028700"/>
              <a:ext cx="4171949" cy="29527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9783" y="8964963"/>
              <a:ext cx="561974" cy="59032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14895" y="313449"/>
            <a:ext cx="9135246" cy="43832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</a:rPr>
              <a:t>Proposal for this session:  </a:t>
            </a:r>
            <a:r>
              <a:rPr lang="en-US" sz="2800" dirty="0">
                <a:solidFill>
                  <a:schemeClr val="bg1"/>
                </a:solidFill>
              </a:rPr>
              <a:t>We propose the next guidelines for this topic, as a shift from "no alternative" towards a </a:t>
            </a:r>
            <a:r>
              <a:rPr lang="en-US" sz="2800" i="1" dirty="0">
                <a:solidFill>
                  <a:schemeClr val="bg1"/>
                </a:solidFill>
              </a:rPr>
              <a:t>strategic </a:t>
            </a:r>
            <a:r>
              <a:rPr lang="en-US" sz="2800" dirty="0">
                <a:solidFill>
                  <a:schemeClr val="bg1"/>
                </a:solidFill>
              </a:rPr>
              <a:t>approach to </a:t>
            </a:r>
            <a:r>
              <a:rPr lang="en-US" sz="2800" b="1" dirty="0">
                <a:solidFill>
                  <a:schemeClr val="bg1"/>
                </a:solidFill>
              </a:rPr>
              <a:t>defining the profile of the future lecturer/teacher: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1. Openness to recruiting individuals from diverse backgrounds (including industry) not as a temporary solution but as part of systemic strategy.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2. Looking at team-based models in which teachers/lecturers with different strengths complement one another, rather than full uniformity.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5134F-A382-A257-C85E-5FA6C2DDB5AA}"/>
              </a:ext>
            </a:extLst>
          </p:cNvPr>
          <p:cNvSpPr txBox="1"/>
          <p:nvPr/>
        </p:nvSpPr>
        <p:spPr>
          <a:xfrm>
            <a:off x="331910" y="7008522"/>
            <a:ext cx="5722374" cy="12926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spc="275" dirty="0">
                <a:solidFill>
                  <a:srgbClr val="993300"/>
                </a:solidFill>
                <a:latin typeface="Trebuchet MS"/>
                <a:cs typeface="Trebuchet MS"/>
              </a:rPr>
              <a:t>What problem/issue are we trying to solve?</a:t>
            </a:r>
            <a:endParaRPr lang="en-US" sz="3200" dirty="0">
              <a:solidFill>
                <a:srgbClr val="993300"/>
              </a:solidFill>
              <a:latin typeface="Trebuchet MS"/>
              <a:cs typeface="Trebuchet MS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/>
        </p:nvSpPr>
        <p:spPr>
          <a:xfrm>
            <a:off x="810491" y="3666790"/>
            <a:ext cx="1747750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Defining the profile of a future teacher…strategic approach.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1"/>
          <p:cNvSpPr txBox="1"/>
          <p:nvPr/>
        </p:nvSpPr>
        <p:spPr>
          <a:xfrm>
            <a:off x="810491" y="5427406"/>
            <a:ext cx="8215506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spc="275" dirty="0">
                <a:solidFill>
                  <a:srgbClr val="BE4A1D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What does success look like?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spc="275" dirty="0">
                <a:solidFill>
                  <a:srgbClr val="BE4A1D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What are the constraints or orthodoxies to reach success?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spc="275" dirty="0">
                <a:solidFill>
                  <a:srgbClr val="BE4A1D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What are the evidence-based processes to achieve success?</a:t>
            </a:r>
            <a:endParaRPr lang="en-US" sz="36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903342" y="9011529"/>
            <a:ext cx="560442" cy="586674"/>
          </a:xfrm>
          <a:custGeom>
            <a:avLst/>
            <a:gdLst/>
            <a:ahLst/>
            <a:cxnLst/>
            <a:rect l="l" t="t" r="r" b="b"/>
            <a:pathLst>
              <a:path w="560442" h="586674" extrusionOk="0">
                <a:moveTo>
                  <a:pt x="0" y="0"/>
                </a:moveTo>
                <a:lnTo>
                  <a:pt x="560442" y="0"/>
                </a:lnTo>
                <a:lnTo>
                  <a:pt x="560442" y="586674"/>
                </a:lnTo>
                <a:lnTo>
                  <a:pt x="0" y="586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11"/>
          <p:cNvSpPr txBox="1"/>
          <p:nvPr/>
        </p:nvSpPr>
        <p:spPr>
          <a:xfrm>
            <a:off x="1729783" y="9179349"/>
            <a:ext cx="14828433" cy="1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i="0" u="none" strike="noStrike" cap="none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www.tiesteach.org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1729783" y="9179349"/>
            <a:ext cx="148284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i="0" u="none" strike="noStrike" cap="none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www.tiesteach.org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3620953" y="9211434"/>
            <a:ext cx="148284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All Rights Reserved, November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3EE61-EEB6-4B09-3AFD-85C31BDA8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91" y="934020"/>
            <a:ext cx="3158836" cy="3142609"/>
          </a:xfrm>
          <a:prstGeom prst="rect">
            <a:avLst/>
          </a:prstGeom>
        </p:spPr>
      </p:pic>
      <p:pic>
        <p:nvPicPr>
          <p:cNvPr id="4098" name="Picture 2" descr="The Global Economy is Changing the Way ...">
            <a:extLst>
              <a:ext uri="{FF2B5EF4-FFF2-40B4-BE49-F238E27FC236}">
                <a16:creationId xmlns:a16="http://schemas.microsoft.com/office/drawing/2014/main" id="{A318392C-4844-3A14-9369-24B6C3112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564" y="4700919"/>
            <a:ext cx="8335945" cy="504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46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3"/>
          <p:cNvCxnSpPr/>
          <p:nvPr/>
        </p:nvCxnSpPr>
        <p:spPr>
          <a:xfrm>
            <a:off x="525415" y="4884942"/>
            <a:ext cx="5969400" cy="13800"/>
          </a:xfrm>
          <a:prstGeom prst="straightConnector1">
            <a:avLst/>
          </a:prstGeom>
          <a:noFill/>
          <a:ln w="57150" cap="flat" cmpd="sng">
            <a:solidFill>
              <a:srgbClr val="BE4B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3"/>
          <p:cNvSpPr/>
          <p:nvPr/>
        </p:nvSpPr>
        <p:spPr>
          <a:xfrm flipH="1">
            <a:off x="10280429" y="-623959"/>
            <a:ext cx="11029046" cy="11541080"/>
          </a:xfrm>
          <a:custGeom>
            <a:avLst/>
            <a:gdLst/>
            <a:ahLst/>
            <a:cxnLst/>
            <a:rect l="l" t="t" r="r" b="b"/>
            <a:pathLst>
              <a:path w="6068251" h="6349975" extrusionOk="0">
                <a:moveTo>
                  <a:pt x="0" y="3175025"/>
                </a:moveTo>
                <a:cubicBezTo>
                  <a:pt x="0" y="4928451"/>
                  <a:pt x="1358450" y="6349975"/>
                  <a:pt x="3034125" y="6349975"/>
                </a:cubicBezTo>
                <a:cubicBezTo>
                  <a:pt x="4709824" y="6349975"/>
                  <a:pt x="6068251" y="4928451"/>
                  <a:pt x="6068251" y="3175025"/>
                </a:cubicBezTo>
                <a:cubicBezTo>
                  <a:pt x="6068251" y="1421511"/>
                  <a:pt x="4709824" y="0"/>
                  <a:pt x="3034125" y="0"/>
                </a:cubicBezTo>
                <a:cubicBezTo>
                  <a:pt x="1358426" y="0"/>
                  <a:pt x="0" y="1421511"/>
                  <a:pt x="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8527" r="-28527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525415" y="786310"/>
            <a:ext cx="14437385" cy="384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4"/>
              <a:buFont typeface="Arial"/>
              <a:buNone/>
            </a:pPr>
            <a:endParaRPr lang="en-US" sz="5954" b="1" dirty="0">
              <a:solidFill>
                <a:srgbClr val="275162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4"/>
              <a:buFont typeface="Arial"/>
              <a:buNone/>
            </a:pPr>
            <a:r>
              <a:rPr lang="en-US" sz="5954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EDUCATION to WORKFORCE </a:t>
            </a:r>
            <a:endParaRPr sz="5954" b="1" dirty="0">
              <a:solidFill>
                <a:srgbClr val="275162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4"/>
              <a:buFont typeface="Arial"/>
              <a:buNone/>
            </a:pPr>
            <a:r>
              <a:rPr lang="en-US" sz="5954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to ECONOMIC DEVELOPMENT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4402358" y="9301414"/>
            <a:ext cx="560442" cy="586674"/>
          </a:xfrm>
          <a:custGeom>
            <a:avLst/>
            <a:gdLst/>
            <a:ahLst/>
            <a:cxnLst/>
            <a:rect l="l" t="t" r="r" b="b"/>
            <a:pathLst>
              <a:path w="560442" h="586674" extrusionOk="0">
                <a:moveTo>
                  <a:pt x="0" y="0"/>
                </a:moveTo>
                <a:lnTo>
                  <a:pt x="560442" y="0"/>
                </a:lnTo>
                <a:lnTo>
                  <a:pt x="560442" y="586675"/>
                </a:lnTo>
                <a:lnTo>
                  <a:pt x="0" y="586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Google Shape;138;p3"/>
          <p:cNvSpPr txBox="1"/>
          <p:nvPr/>
        </p:nvSpPr>
        <p:spPr>
          <a:xfrm>
            <a:off x="1729783" y="9581849"/>
            <a:ext cx="14828433" cy="20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i="0" u="none" strike="noStrike" cap="none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www.tiesteach.org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729783" y="9784600"/>
            <a:ext cx="148284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All Rights Reserved, February 2025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1480C-3C98-C73C-A847-36B8D6E2A46C}"/>
              </a:ext>
            </a:extLst>
          </p:cNvPr>
          <p:cNvSpPr txBox="1"/>
          <p:nvPr/>
        </p:nvSpPr>
        <p:spPr>
          <a:xfrm>
            <a:off x="525415" y="5101493"/>
            <a:ext cx="97550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Transdisciplinary approach to teaching STEM</a:t>
            </a:r>
          </a:p>
          <a:p>
            <a:endParaRPr lang="en-US" sz="28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r>
              <a:rPr lang="en-US" sz="2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Career Connected Learning is infused and not laminar and with real-world experiences/expertise</a:t>
            </a:r>
          </a:p>
          <a:p>
            <a:endParaRPr lang="en-US" sz="28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r>
              <a:rPr lang="en-US" sz="2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Teaching becomes the focus, not </a:t>
            </a:r>
            <a:r>
              <a:rPr lang="en-US" sz="2800" b="1" i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education</a:t>
            </a:r>
            <a:r>
              <a:rPr lang="en-US" sz="2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and earns an industry-level or sector status</a:t>
            </a:r>
          </a:p>
          <a:p>
            <a:endParaRPr lang="en-US" sz="28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r>
              <a:rPr lang="en-US" sz="2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Teaching is a team-driven cross-sector endeavor</a:t>
            </a:r>
          </a:p>
          <a:p>
            <a:endParaRPr lang="en-US" sz="28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r>
              <a:rPr lang="en-US" sz="2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Recruitment is incentivized and multi-dimensional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4E246-BD9B-9DCD-D752-6A6F526E7B9F}"/>
              </a:ext>
            </a:extLst>
          </p:cNvPr>
          <p:cNvSpPr txBox="1"/>
          <p:nvPr/>
        </p:nvSpPr>
        <p:spPr>
          <a:xfrm>
            <a:off x="353961" y="589935"/>
            <a:ext cx="896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9330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What does success look like?</a:t>
            </a:r>
          </a:p>
        </p:txBody>
      </p:sp>
    </p:spTree>
    <p:extLst>
      <p:ext uri="{BB962C8B-B14F-4D97-AF65-F5344CB8AC3E}">
        <p14:creationId xmlns:p14="http://schemas.microsoft.com/office/powerpoint/2010/main" val="236209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5">
            <a:extLst>
              <a:ext uri="{FF2B5EF4-FFF2-40B4-BE49-F238E27FC236}">
                <a16:creationId xmlns:a16="http://schemas.microsoft.com/office/drawing/2014/main" id="{3B586335-6AD1-EF6C-2924-A5B56C57CD1E}"/>
              </a:ext>
            </a:extLst>
          </p:cNvPr>
          <p:cNvGrpSpPr/>
          <p:nvPr/>
        </p:nvGrpSpPr>
        <p:grpSpPr>
          <a:xfrm>
            <a:off x="961206" y="1100713"/>
            <a:ext cx="4766938" cy="3878826"/>
            <a:chOff x="0" y="0"/>
            <a:chExt cx="6851824" cy="5143500"/>
          </a:xfrm>
        </p:grpSpPr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0225CE4B-825B-A20B-D479-3C349582592F}"/>
                </a:ext>
              </a:extLst>
            </p:cNvPr>
            <p:cNvSpPr/>
            <p:nvPr/>
          </p:nvSpPr>
          <p:spPr>
            <a:xfrm>
              <a:off x="0" y="0"/>
              <a:ext cx="6851824" cy="5143500"/>
            </a:xfrm>
            <a:custGeom>
              <a:avLst/>
              <a:gdLst/>
              <a:ahLst/>
              <a:cxnLst/>
              <a:rect l="l" t="t" r="r" b="b"/>
              <a:pathLst>
                <a:path w="6386195" h="5143500">
                  <a:moveTo>
                    <a:pt x="6385626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6385626" y="0"/>
                  </a:lnTo>
                  <a:lnTo>
                    <a:pt x="6385626" y="5143500"/>
                  </a:lnTo>
                  <a:close/>
                </a:path>
              </a:pathLst>
            </a:custGeom>
            <a:solidFill>
              <a:srgbClr val="FBF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7">
              <a:extLst>
                <a:ext uri="{FF2B5EF4-FFF2-40B4-BE49-F238E27FC236}">
                  <a16:creationId xmlns:a16="http://schemas.microsoft.com/office/drawing/2014/main" id="{9D257941-ABB6-BAA8-8BA9-393A6A79643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1028700"/>
              <a:ext cx="4171949" cy="2952749"/>
            </a:xfrm>
            <a:prstGeom prst="rect">
              <a:avLst/>
            </a:prstGeom>
          </p:spPr>
        </p:pic>
      </p:grpSp>
      <p:pic>
        <p:nvPicPr>
          <p:cNvPr id="2" name="Picture 2" descr="Do Not Follow the Yellow Brick Road ...">
            <a:extLst>
              <a:ext uri="{FF2B5EF4-FFF2-40B4-BE49-F238E27FC236}">
                <a16:creationId xmlns:a16="http://schemas.microsoft.com/office/drawing/2014/main" id="{67F79FF6-50FC-75DD-132C-B36A874CC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612" y="-132734"/>
            <a:ext cx="10176387" cy="574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do I exit a freeway?">
            <a:extLst>
              <a:ext uri="{FF2B5EF4-FFF2-40B4-BE49-F238E27FC236}">
                <a16:creationId xmlns:a16="http://schemas.microsoft.com/office/drawing/2014/main" id="{D9C77614-9CAB-C5EB-1275-4A9F8454F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670" y="4215624"/>
            <a:ext cx="8157282" cy="607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98;p11">
            <a:hlinkClick r:id="rId6"/>
            <a:extLst>
              <a:ext uri="{FF2B5EF4-FFF2-40B4-BE49-F238E27FC236}">
                <a16:creationId xmlns:a16="http://schemas.microsoft.com/office/drawing/2014/main" id="{4777A36A-4108-8D34-A692-A125F1EE9B99}"/>
              </a:ext>
            </a:extLst>
          </p:cNvPr>
          <p:cNvSpPr/>
          <p:nvPr/>
        </p:nvSpPr>
        <p:spPr>
          <a:xfrm>
            <a:off x="8111613" y="5612908"/>
            <a:ext cx="10176388" cy="4673736"/>
          </a:xfrm>
          <a:custGeom>
            <a:avLst/>
            <a:gdLst/>
            <a:ahLst/>
            <a:cxnLst/>
            <a:rect l="l" t="t" r="r" b="b"/>
            <a:pathLst>
              <a:path w="1599741" h="1034258" extrusionOk="0">
                <a:moveTo>
                  <a:pt x="0" y="0"/>
                </a:moveTo>
                <a:lnTo>
                  <a:pt x="1599741" y="0"/>
                </a:lnTo>
                <a:lnTo>
                  <a:pt x="1599741" y="1034258"/>
                </a:lnTo>
                <a:lnTo>
                  <a:pt x="0" y="1034258"/>
                </a:lnTo>
                <a:close/>
              </a:path>
            </a:pathLst>
          </a:custGeom>
          <a:solidFill>
            <a:srgbClr val="2751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1BCCD-8618-EB35-E2A0-9E811C38314F}"/>
              </a:ext>
            </a:extLst>
          </p:cNvPr>
          <p:cNvSpPr txBox="1"/>
          <p:nvPr/>
        </p:nvSpPr>
        <p:spPr>
          <a:xfrm>
            <a:off x="8716297" y="6651523"/>
            <a:ext cx="9365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Leave the Yellow Brick Road behind and adopt an Interstate Road model…ramps on and off.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15863-DFAC-6181-3CB9-F8CCC34A991D}"/>
              </a:ext>
            </a:extLst>
          </p:cNvPr>
          <p:cNvSpPr txBox="1"/>
          <p:nvPr/>
        </p:nvSpPr>
        <p:spPr>
          <a:xfrm>
            <a:off x="-102468" y="250612"/>
            <a:ext cx="8157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9330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Constraints or Orthodoxies</a:t>
            </a:r>
          </a:p>
        </p:txBody>
      </p:sp>
    </p:spTree>
    <p:extLst>
      <p:ext uri="{BB962C8B-B14F-4D97-AF65-F5344CB8AC3E}">
        <p14:creationId xmlns:p14="http://schemas.microsoft.com/office/powerpoint/2010/main" val="177417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5F49F-B7D2-D64C-A4B3-0ADE68EF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5">
            <a:extLst>
              <a:ext uri="{FF2B5EF4-FFF2-40B4-BE49-F238E27FC236}">
                <a16:creationId xmlns:a16="http://schemas.microsoft.com/office/drawing/2014/main" id="{83080199-DF1E-86B2-C882-3766B8A566FD}"/>
              </a:ext>
            </a:extLst>
          </p:cNvPr>
          <p:cNvGrpSpPr/>
          <p:nvPr/>
        </p:nvGrpSpPr>
        <p:grpSpPr>
          <a:xfrm>
            <a:off x="352537" y="2477519"/>
            <a:ext cx="6851824" cy="5143500"/>
            <a:chOff x="0" y="0"/>
            <a:chExt cx="6851824" cy="5143500"/>
          </a:xfrm>
        </p:grpSpPr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E63F4DDF-5FE8-E8F0-2D02-24546DAE1D68}"/>
                </a:ext>
              </a:extLst>
            </p:cNvPr>
            <p:cNvSpPr/>
            <p:nvPr/>
          </p:nvSpPr>
          <p:spPr>
            <a:xfrm>
              <a:off x="0" y="0"/>
              <a:ext cx="6851824" cy="5143500"/>
            </a:xfrm>
            <a:custGeom>
              <a:avLst/>
              <a:gdLst/>
              <a:ahLst/>
              <a:cxnLst/>
              <a:rect l="l" t="t" r="r" b="b"/>
              <a:pathLst>
                <a:path w="6386195" h="5143500">
                  <a:moveTo>
                    <a:pt x="6385626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6385626" y="0"/>
                  </a:lnTo>
                  <a:lnTo>
                    <a:pt x="6385626" y="5143500"/>
                  </a:lnTo>
                  <a:close/>
                </a:path>
              </a:pathLst>
            </a:custGeom>
            <a:solidFill>
              <a:srgbClr val="FBF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7">
              <a:extLst>
                <a:ext uri="{FF2B5EF4-FFF2-40B4-BE49-F238E27FC236}">
                  <a16:creationId xmlns:a16="http://schemas.microsoft.com/office/drawing/2014/main" id="{A6D84FCD-40E6-838A-25CE-7C3EB56BED5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1028700"/>
              <a:ext cx="4171949" cy="2952749"/>
            </a:xfrm>
            <a:prstGeom prst="rect">
              <a:avLst/>
            </a:prstGeom>
          </p:spPr>
        </p:pic>
      </p:grpSp>
      <p:sp>
        <p:nvSpPr>
          <p:cNvPr id="3" name="Google Shape;98;p11">
            <a:hlinkClick r:id="rId4"/>
            <a:extLst>
              <a:ext uri="{FF2B5EF4-FFF2-40B4-BE49-F238E27FC236}">
                <a16:creationId xmlns:a16="http://schemas.microsoft.com/office/drawing/2014/main" id="{FCBD5E2E-9862-3D44-4557-A789F72CF716}"/>
              </a:ext>
            </a:extLst>
          </p:cNvPr>
          <p:cNvSpPr/>
          <p:nvPr/>
        </p:nvSpPr>
        <p:spPr>
          <a:xfrm>
            <a:off x="6078656" y="5471651"/>
            <a:ext cx="12209345" cy="4814993"/>
          </a:xfrm>
          <a:custGeom>
            <a:avLst/>
            <a:gdLst/>
            <a:ahLst/>
            <a:cxnLst/>
            <a:rect l="l" t="t" r="r" b="b"/>
            <a:pathLst>
              <a:path w="1599741" h="1034258" extrusionOk="0">
                <a:moveTo>
                  <a:pt x="0" y="0"/>
                </a:moveTo>
                <a:lnTo>
                  <a:pt x="1599741" y="0"/>
                </a:lnTo>
                <a:lnTo>
                  <a:pt x="1599741" y="1034258"/>
                </a:lnTo>
                <a:lnTo>
                  <a:pt x="0" y="1034258"/>
                </a:lnTo>
                <a:close/>
              </a:path>
            </a:pathLst>
          </a:custGeom>
          <a:solidFill>
            <a:srgbClr val="2751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BDC4C-4D66-9117-F103-B64B3BCE3947}"/>
              </a:ext>
            </a:extLst>
          </p:cNvPr>
          <p:cNvSpPr txBox="1"/>
          <p:nvPr/>
        </p:nvSpPr>
        <p:spPr>
          <a:xfrm>
            <a:off x="8716297" y="6651523"/>
            <a:ext cx="9365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Teaching is a “calling” and not a profession accomplished by the top achieving talent.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30EBA-D201-AFE7-8B89-C9B1D0FEE17D}"/>
              </a:ext>
            </a:extLst>
          </p:cNvPr>
          <p:cNvSpPr txBox="1"/>
          <p:nvPr/>
        </p:nvSpPr>
        <p:spPr>
          <a:xfrm>
            <a:off x="-45670" y="294968"/>
            <a:ext cx="64612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9330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Constraints or Orthodoxies</a:t>
            </a:r>
          </a:p>
        </p:txBody>
      </p:sp>
      <p:pic>
        <p:nvPicPr>
          <p:cNvPr id="2050" name="Picture 2" descr="Collaborative Classrooms: How Teachers and AI Can Work Together">
            <a:extLst>
              <a:ext uri="{FF2B5EF4-FFF2-40B4-BE49-F238E27FC236}">
                <a16:creationId xmlns:a16="http://schemas.microsoft.com/office/drawing/2014/main" id="{EAA30182-6C37-DBD1-73A7-0A0BD4697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656" y="49628"/>
            <a:ext cx="12209344" cy="542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98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5">
            <a:extLst>
              <a:ext uri="{FF2B5EF4-FFF2-40B4-BE49-F238E27FC236}">
                <a16:creationId xmlns:a16="http://schemas.microsoft.com/office/drawing/2014/main" id="{ACABC7B8-F2BA-A6C4-310C-17BD41FE10E4}"/>
              </a:ext>
            </a:extLst>
          </p:cNvPr>
          <p:cNvGrpSpPr/>
          <p:nvPr/>
        </p:nvGrpSpPr>
        <p:grpSpPr>
          <a:xfrm>
            <a:off x="-3666399" y="1467471"/>
            <a:ext cx="8172031" cy="4631203"/>
            <a:chOff x="0" y="0"/>
            <a:chExt cx="10495320" cy="5143500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2BD57304-AE0E-3A52-D318-6B55C81B600B}"/>
                </a:ext>
              </a:extLst>
            </p:cNvPr>
            <p:cNvSpPr/>
            <p:nvPr/>
          </p:nvSpPr>
          <p:spPr>
            <a:xfrm>
              <a:off x="0" y="0"/>
              <a:ext cx="6851824" cy="5143500"/>
            </a:xfrm>
            <a:custGeom>
              <a:avLst/>
              <a:gdLst/>
              <a:ahLst/>
              <a:cxnLst/>
              <a:rect l="l" t="t" r="r" b="b"/>
              <a:pathLst>
                <a:path w="6386195" h="5143500">
                  <a:moveTo>
                    <a:pt x="6385626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6385626" y="0"/>
                  </a:lnTo>
                  <a:lnTo>
                    <a:pt x="6385626" y="5143500"/>
                  </a:lnTo>
                  <a:close/>
                </a:path>
              </a:pathLst>
            </a:custGeom>
            <a:solidFill>
              <a:srgbClr val="FBFB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A61722CA-88FC-A701-D46D-8F2E308C02F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3371" y="689487"/>
              <a:ext cx="4171949" cy="295274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CF5DE7C-3F69-8B50-FEB9-82EC813F39E4}"/>
              </a:ext>
            </a:extLst>
          </p:cNvPr>
          <p:cNvSpPr txBox="1"/>
          <p:nvPr/>
        </p:nvSpPr>
        <p:spPr>
          <a:xfrm>
            <a:off x="407718" y="528456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99330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Constraints or Orthodoxies</a:t>
            </a:r>
          </a:p>
        </p:txBody>
      </p:sp>
      <p:sp>
        <p:nvSpPr>
          <p:cNvPr id="12" name="Google Shape;98;p11">
            <a:hlinkClick r:id="rId3"/>
            <a:extLst>
              <a:ext uri="{FF2B5EF4-FFF2-40B4-BE49-F238E27FC236}">
                <a16:creationId xmlns:a16="http://schemas.microsoft.com/office/drawing/2014/main" id="{F57AF3BA-5AB8-72F9-5B1A-B33F48E03E1C}"/>
              </a:ext>
            </a:extLst>
          </p:cNvPr>
          <p:cNvSpPr/>
          <p:nvPr/>
        </p:nvSpPr>
        <p:spPr>
          <a:xfrm>
            <a:off x="0" y="5472007"/>
            <a:ext cx="9011265" cy="4814993"/>
          </a:xfrm>
          <a:custGeom>
            <a:avLst/>
            <a:gdLst/>
            <a:ahLst/>
            <a:cxnLst/>
            <a:rect l="l" t="t" r="r" b="b"/>
            <a:pathLst>
              <a:path w="1599741" h="1034258" extrusionOk="0">
                <a:moveTo>
                  <a:pt x="0" y="0"/>
                </a:moveTo>
                <a:lnTo>
                  <a:pt x="1599741" y="0"/>
                </a:lnTo>
                <a:lnTo>
                  <a:pt x="1599741" y="1034258"/>
                </a:lnTo>
                <a:lnTo>
                  <a:pt x="0" y="1034258"/>
                </a:lnTo>
                <a:close/>
              </a:path>
            </a:pathLst>
          </a:custGeom>
          <a:solidFill>
            <a:srgbClr val="2751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8E12EB-8729-8742-86BA-ECFEF134B33A}"/>
              </a:ext>
            </a:extLst>
          </p:cNvPr>
          <p:cNvSpPr txBox="1"/>
          <p:nvPr/>
        </p:nvSpPr>
        <p:spPr>
          <a:xfrm>
            <a:off x="482915" y="6725341"/>
            <a:ext cx="85983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Emerging Technologies are not part of teaching competencies, are optional and are not currently prized by teaching standards and certifications. .</a:t>
            </a:r>
          </a:p>
        </p:txBody>
      </p:sp>
      <p:pic>
        <p:nvPicPr>
          <p:cNvPr id="4100" name="Picture 4" descr="artificial intelligence varies ...">
            <a:extLst>
              <a:ext uri="{FF2B5EF4-FFF2-40B4-BE49-F238E27FC236}">
                <a16:creationId xmlns:a16="http://schemas.microsoft.com/office/drawing/2014/main" id="{69F7D692-8D7C-63C0-1524-66819F135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718" y="991643"/>
            <a:ext cx="7505503" cy="937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73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/>
        </p:nvSpPr>
        <p:spPr>
          <a:xfrm>
            <a:off x="12728651" y="2588794"/>
            <a:ext cx="41013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3"/>
              <a:buFont typeface="Arial"/>
              <a:buNone/>
            </a:pPr>
            <a:r>
              <a:rPr lang="en-US" sz="2563" b="1">
                <a:solidFill>
                  <a:srgbClr val="F7F7F7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Makerspace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561666" y="478805"/>
            <a:ext cx="1216698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dirty="0">
                <a:solidFill>
                  <a:srgbClr val="9933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Evidence-based Processes to achieve Career-Connected Learning…</a:t>
            </a:r>
            <a:r>
              <a:rPr lang="en-US" sz="4800" b="1" dirty="0">
                <a:solidFill>
                  <a:schemeClr val="tx1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Externships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12943092" y="3197745"/>
            <a:ext cx="3672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F7F7F7"/>
                </a:solidFill>
                <a:latin typeface="Urbanist"/>
                <a:ea typeface="Urbanist"/>
                <a:cs typeface="Urbanist"/>
                <a:sym typeface="Urbanist"/>
              </a:rPr>
              <a:t>Pre-K through 5th grade Instructional spaces for tinkering and inventing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903342" y="9011529"/>
            <a:ext cx="560442" cy="586674"/>
          </a:xfrm>
          <a:custGeom>
            <a:avLst/>
            <a:gdLst/>
            <a:ahLst/>
            <a:cxnLst/>
            <a:rect l="l" t="t" r="r" b="b"/>
            <a:pathLst>
              <a:path w="560442" h="586674" extrusionOk="0">
                <a:moveTo>
                  <a:pt x="0" y="0"/>
                </a:moveTo>
                <a:lnTo>
                  <a:pt x="560442" y="0"/>
                </a:lnTo>
                <a:lnTo>
                  <a:pt x="560442" y="586674"/>
                </a:lnTo>
                <a:lnTo>
                  <a:pt x="0" y="586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11"/>
          <p:cNvSpPr txBox="1"/>
          <p:nvPr/>
        </p:nvSpPr>
        <p:spPr>
          <a:xfrm>
            <a:off x="1729783" y="9179349"/>
            <a:ext cx="14828433" cy="1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i="0" u="none" strike="noStrike" cap="none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www.tiesteach.org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1729783" y="9179349"/>
            <a:ext cx="148284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i="0" u="none" strike="noStrike" cap="none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www.tiesteach.org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3620953" y="9211434"/>
            <a:ext cx="148284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All Rights Reserved, February 2025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Team:CityColSanFrancisco/Sponsors ...">
            <a:extLst>
              <a:ext uri="{FF2B5EF4-FFF2-40B4-BE49-F238E27FC236}">
                <a16:creationId xmlns:a16="http://schemas.microsoft.com/office/drawing/2014/main" id="{385F4738-D52A-5E0F-8B50-8FA9D9E09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7225" y="2311781"/>
            <a:ext cx="6265453" cy="277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gnited">
            <a:extLst>
              <a:ext uri="{FF2B5EF4-FFF2-40B4-BE49-F238E27FC236}">
                <a16:creationId xmlns:a16="http://schemas.microsoft.com/office/drawing/2014/main" id="{FB9740C8-3CB9-9182-C2DF-1F39F9243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002" y="5143500"/>
            <a:ext cx="952500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High Tech High Graduate School of Education">
            <a:extLst>
              <a:ext uri="{FF2B5EF4-FFF2-40B4-BE49-F238E27FC236}">
                <a16:creationId xmlns:a16="http://schemas.microsoft.com/office/drawing/2014/main" id="{C73225EA-9DD1-F24D-D0AE-C21B08424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337" y="7169740"/>
            <a:ext cx="4563846" cy="262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Uteach Reviews 2026: Details, Pricing ...">
            <a:extLst>
              <a:ext uri="{FF2B5EF4-FFF2-40B4-BE49-F238E27FC236}">
                <a16:creationId xmlns:a16="http://schemas.microsoft.com/office/drawing/2014/main" id="{943A5797-17E4-DFA4-2CC9-5BFF6714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45" y="6728214"/>
            <a:ext cx="4225473" cy="2221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Stint Ireland Information">
            <a:extLst>
              <a:ext uri="{FF2B5EF4-FFF2-40B4-BE49-F238E27FC236}">
                <a16:creationId xmlns:a16="http://schemas.microsoft.com/office/drawing/2014/main" id="{F25B24B7-93F6-9EB0-28B9-62FBDC167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45" y="3197745"/>
            <a:ext cx="3354016" cy="312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7AF4F8EF-A53B-51C0-E3FF-A2D949E9C9BF}"/>
              </a:ext>
            </a:extLst>
          </p:cNvPr>
          <p:cNvSpPr/>
          <p:nvPr/>
        </p:nvSpPr>
        <p:spPr>
          <a:xfrm>
            <a:off x="695322" y="3068566"/>
            <a:ext cx="5759246" cy="45719"/>
          </a:xfrm>
          <a:custGeom>
            <a:avLst/>
            <a:gdLst/>
            <a:ahLst/>
            <a:cxnLst/>
            <a:rect l="l" t="t" r="r" b="b"/>
            <a:pathLst>
              <a:path w="9861550" h="5009515">
                <a:moveTo>
                  <a:pt x="9861433" y="5008981"/>
                </a:moveTo>
                <a:lnTo>
                  <a:pt x="0" y="5008981"/>
                </a:lnTo>
                <a:lnTo>
                  <a:pt x="0" y="0"/>
                </a:lnTo>
                <a:lnTo>
                  <a:pt x="9861433" y="0"/>
                </a:lnTo>
                <a:lnTo>
                  <a:pt x="9861433" y="5008981"/>
                </a:lnTo>
                <a:close/>
              </a:path>
            </a:pathLst>
          </a:custGeom>
          <a:solidFill>
            <a:srgbClr val="26506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ild lying on the floor looking at a computer&#10;&#10;Description automatically generated">
            <a:extLst>
              <a:ext uri="{FF2B5EF4-FFF2-40B4-BE49-F238E27FC236}">
                <a16:creationId xmlns:a16="http://schemas.microsoft.com/office/drawing/2014/main" id="{8FA353C0-D87C-77A3-E98E-7863C9B1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430" y="2483657"/>
            <a:ext cx="8457966" cy="5706274"/>
          </a:xfrm>
          <a:prstGeom prst="rect">
            <a:avLst/>
          </a:prstGeom>
        </p:spPr>
      </p:pic>
      <p:sp>
        <p:nvSpPr>
          <p:cNvPr id="2" name="Google Shape;84;p1">
            <a:extLst>
              <a:ext uri="{FF2B5EF4-FFF2-40B4-BE49-F238E27FC236}">
                <a16:creationId xmlns:a16="http://schemas.microsoft.com/office/drawing/2014/main" id="{75FC96B8-D56A-18B7-E88C-319B84528D97}"/>
              </a:ext>
            </a:extLst>
          </p:cNvPr>
          <p:cNvSpPr/>
          <p:nvPr/>
        </p:nvSpPr>
        <p:spPr>
          <a:xfrm>
            <a:off x="15711008" y="7966977"/>
            <a:ext cx="2219264" cy="2248104"/>
          </a:xfrm>
          <a:custGeom>
            <a:avLst/>
            <a:gdLst/>
            <a:ahLst/>
            <a:cxnLst/>
            <a:rect l="l" t="t" r="r" b="b"/>
            <a:pathLst>
              <a:path w="2219264" h="2248104" extrusionOk="0">
                <a:moveTo>
                  <a:pt x="0" y="0"/>
                </a:moveTo>
                <a:lnTo>
                  <a:pt x="2219264" y="0"/>
                </a:lnTo>
                <a:lnTo>
                  <a:pt x="2219264" y="2248103"/>
                </a:lnTo>
                <a:lnTo>
                  <a:pt x="0" y="2248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015" t="-2137" r="-201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4CE54-F5F8-9A10-3592-54E350631749}"/>
              </a:ext>
            </a:extLst>
          </p:cNvPr>
          <p:cNvSpPr txBox="1"/>
          <p:nvPr/>
        </p:nvSpPr>
        <p:spPr>
          <a:xfrm>
            <a:off x="250722" y="308705"/>
            <a:ext cx="13591401" cy="2053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dirty="0">
                <a:solidFill>
                  <a:srgbClr val="9933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Evidence-based Processes Incentivized and Multidimensional …</a:t>
            </a:r>
            <a:r>
              <a:rPr lang="en-US" sz="4800" dirty="0">
                <a:solidFill>
                  <a:schemeClr val="tx1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Talent Recruitment</a:t>
            </a:r>
            <a:endParaRPr lang="en-US" sz="480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D369A9C-6560-79E5-8A65-FA7ED71D308F}"/>
              </a:ext>
            </a:extLst>
          </p:cNvPr>
          <p:cNvSpPr/>
          <p:nvPr/>
        </p:nvSpPr>
        <p:spPr>
          <a:xfrm>
            <a:off x="665825" y="2655611"/>
            <a:ext cx="5759246" cy="45719"/>
          </a:xfrm>
          <a:custGeom>
            <a:avLst/>
            <a:gdLst/>
            <a:ahLst/>
            <a:cxnLst/>
            <a:rect l="l" t="t" r="r" b="b"/>
            <a:pathLst>
              <a:path w="9861550" h="5009515">
                <a:moveTo>
                  <a:pt x="9861433" y="5008981"/>
                </a:moveTo>
                <a:lnTo>
                  <a:pt x="0" y="5008981"/>
                </a:lnTo>
                <a:lnTo>
                  <a:pt x="0" y="0"/>
                </a:lnTo>
                <a:lnTo>
                  <a:pt x="9861433" y="0"/>
                </a:lnTo>
                <a:lnTo>
                  <a:pt x="9861433" y="5008981"/>
                </a:lnTo>
                <a:close/>
              </a:path>
            </a:pathLst>
          </a:custGeom>
          <a:solidFill>
            <a:srgbClr val="2650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3F5A1-CD7B-93BE-5636-099983083B85}"/>
              </a:ext>
            </a:extLst>
          </p:cNvPr>
          <p:cNvSpPr txBox="1"/>
          <p:nvPr/>
        </p:nvSpPr>
        <p:spPr>
          <a:xfrm>
            <a:off x="665825" y="3288890"/>
            <a:ext cx="710657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Disaffected Workers, retrained</a:t>
            </a:r>
          </a:p>
          <a:p>
            <a:endParaRPr lang="en-US" sz="3200" dirty="0"/>
          </a:p>
          <a:p>
            <a:r>
              <a:rPr lang="en-US" sz="3200" dirty="0"/>
              <a:t>Post-Military Options</a:t>
            </a:r>
          </a:p>
          <a:p>
            <a:endParaRPr lang="en-US" sz="3200" dirty="0"/>
          </a:p>
          <a:p>
            <a:r>
              <a:rPr lang="en-US" sz="3200" dirty="0"/>
              <a:t>Industry/Business Worker-incentives</a:t>
            </a:r>
          </a:p>
          <a:p>
            <a:endParaRPr lang="en-US" sz="3200" dirty="0"/>
          </a:p>
          <a:p>
            <a:r>
              <a:rPr lang="en-US" sz="3200" dirty="0"/>
              <a:t>NGO/Non-profit Incentives for employees</a:t>
            </a:r>
          </a:p>
          <a:p>
            <a:endParaRPr lang="en-US" sz="3200" dirty="0"/>
          </a:p>
          <a:p>
            <a:r>
              <a:rPr lang="en-US" sz="3200" dirty="0"/>
              <a:t>University Incubation of Innovative Options for Talent Recruitment</a:t>
            </a:r>
          </a:p>
          <a:p>
            <a:endParaRPr lang="en-US" sz="3200" dirty="0"/>
          </a:p>
          <a:p>
            <a:r>
              <a:rPr lang="en-US" sz="3200" dirty="0"/>
              <a:t>Head-hunters:  Hedrick Struggles, Isaacson and Miller, ex. </a:t>
            </a:r>
          </a:p>
        </p:txBody>
      </p:sp>
    </p:spTree>
    <p:extLst>
      <p:ext uri="{BB962C8B-B14F-4D97-AF65-F5344CB8AC3E}">
        <p14:creationId xmlns:p14="http://schemas.microsoft.com/office/powerpoint/2010/main" val="106100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women holding up a large piece of paper&#10;&#10;Description automatically generated">
            <a:extLst>
              <a:ext uri="{FF2B5EF4-FFF2-40B4-BE49-F238E27FC236}">
                <a16:creationId xmlns:a16="http://schemas.microsoft.com/office/drawing/2014/main" id="{C18199AF-C17A-8A45-155C-2B155EA1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6" r="1" b="24095"/>
          <a:stretch/>
        </p:blipFill>
        <p:spPr>
          <a:xfrm>
            <a:off x="20" y="10"/>
            <a:ext cx="10823081" cy="4453946"/>
          </a:xfrm>
          <a:custGeom>
            <a:avLst/>
            <a:gdLst/>
            <a:ahLst/>
            <a:cxnLst/>
            <a:rect l="l" t="t" r="r" b="b"/>
            <a:pathLst>
              <a:path w="7215401" h="2969304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5840224" y="2969304"/>
                </a:lnTo>
                <a:lnTo>
                  <a:pt x="0" y="2969304"/>
                </a:lnTo>
                <a:close/>
              </a:path>
            </a:pathLst>
          </a:custGeom>
        </p:spPr>
      </p:pic>
      <p:pic>
        <p:nvPicPr>
          <p:cNvPr id="2" name="object 3" descr="A child in a pilot's helmet and goggles sitting in a wooden cart&#10;&#10;AI-generated content may be incorrect.">
            <a:extLst>
              <a:ext uri="{FF2B5EF4-FFF2-40B4-BE49-F238E27FC236}">
                <a16:creationId xmlns:a16="http://schemas.microsoft.com/office/drawing/2014/main" id="{E0E7760A-324D-0051-6A79-C0CF865D4F39}"/>
              </a:ext>
            </a:extLst>
          </p:cNvPr>
          <p:cNvPicPr/>
          <p:nvPr/>
        </p:nvPicPr>
        <p:blipFill>
          <a:blip r:embed="rId3" cstate="print"/>
          <a:srcRect t="3401" r="1" b="17582"/>
          <a:stretch/>
        </p:blipFill>
        <p:spPr>
          <a:xfrm>
            <a:off x="8433349" y="10"/>
            <a:ext cx="9854654" cy="5626091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3074" name="Picture 2" descr="Lockheed Martin launches new science kindergarten in northern Israel - The  Jerusalem Post">
            <a:extLst>
              <a:ext uri="{FF2B5EF4-FFF2-40B4-BE49-F238E27FC236}">
                <a16:creationId xmlns:a16="http://schemas.microsoft.com/office/drawing/2014/main" id="{54DCA4A2-E55C-87DF-3FFD-4D5C59B7F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05" r="-2" b="20767"/>
          <a:stretch/>
        </p:blipFill>
        <p:spPr bwMode="auto">
          <a:xfrm>
            <a:off x="6273016" y="5831841"/>
            <a:ext cx="12014987" cy="4455159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6th of October STEM School for Boys ...">
            <a:extLst>
              <a:ext uri="{FF2B5EF4-FFF2-40B4-BE49-F238E27FC236}">
                <a16:creationId xmlns:a16="http://schemas.microsoft.com/office/drawing/2014/main" id="{C30840C9-271A-9307-9142-3A4EBFF6D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9211"/>
          <a:stretch/>
        </p:blipFill>
        <p:spPr bwMode="auto">
          <a:xfrm>
            <a:off x="1" y="4659696"/>
            <a:ext cx="9314330" cy="5627304"/>
          </a:xfrm>
          <a:custGeom>
            <a:avLst/>
            <a:gdLst/>
            <a:ahLst/>
            <a:cxnLst/>
            <a:rect l="l" t="t" r="r" b="b"/>
            <a:pathLst>
              <a:path w="6209553" h="3751536">
                <a:moveTo>
                  <a:pt x="0" y="0"/>
                </a:moveTo>
                <a:lnTo>
                  <a:pt x="5776701" y="0"/>
                </a:lnTo>
                <a:lnTo>
                  <a:pt x="4041567" y="3746529"/>
                </a:lnTo>
                <a:lnTo>
                  <a:pt x="6209553" y="3746529"/>
                </a:lnTo>
                <a:lnTo>
                  <a:pt x="6209553" y="3746530"/>
                </a:lnTo>
                <a:lnTo>
                  <a:pt x="1647632" y="3746530"/>
                </a:lnTo>
                <a:lnTo>
                  <a:pt x="1647632" y="3751536"/>
                </a:lnTo>
                <a:lnTo>
                  <a:pt x="0" y="375153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640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492FDAB4-C4A8-FB7E-8B9C-1943F099C7F5}"/>
              </a:ext>
            </a:extLst>
          </p:cNvPr>
          <p:cNvGrpSpPr/>
          <p:nvPr/>
        </p:nvGrpSpPr>
        <p:grpSpPr>
          <a:xfrm>
            <a:off x="0" y="0"/>
            <a:ext cx="9144000" cy="5009515"/>
            <a:chOff x="8426766" y="2639008"/>
            <a:chExt cx="9861550" cy="500951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1D588B9C-2EC0-F6FA-84C7-F37DD9F50A63}"/>
                </a:ext>
              </a:extLst>
            </p:cNvPr>
            <p:cNvSpPr/>
            <p:nvPr/>
          </p:nvSpPr>
          <p:spPr>
            <a:xfrm>
              <a:off x="8426766" y="2639008"/>
              <a:ext cx="9861550" cy="5009515"/>
            </a:xfrm>
            <a:custGeom>
              <a:avLst/>
              <a:gdLst/>
              <a:ahLst/>
              <a:cxnLst/>
              <a:rect l="l" t="t" r="r" b="b"/>
              <a:pathLst>
                <a:path w="9861550" h="5009515">
                  <a:moveTo>
                    <a:pt x="9861433" y="5008981"/>
                  </a:moveTo>
                  <a:lnTo>
                    <a:pt x="0" y="5008981"/>
                  </a:lnTo>
                  <a:lnTo>
                    <a:pt x="0" y="0"/>
                  </a:lnTo>
                  <a:lnTo>
                    <a:pt x="9861433" y="0"/>
                  </a:lnTo>
                  <a:lnTo>
                    <a:pt x="9861433" y="5008981"/>
                  </a:lnTo>
                  <a:close/>
                </a:path>
              </a:pathLst>
            </a:custGeom>
            <a:solidFill>
              <a:srgbClr val="265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4EE4EAE-226C-9D4B-B94E-6A51BC48F5C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31381" y="3226200"/>
              <a:ext cx="4252003" cy="3834598"/>
            </a:xfrm>
            <a:prstGeom prst="rect">
              <a:avLst/>
            </a:prstGeom>
          </p:spPr>
        </p:pic>
      </p:grpSp>
      <p:sp>
        <p:nvSpPr>
          <p:cNvPr id="9" name="object 4">
            <a:extLst>
              <a:ext uri="{FF2B5EF4-FFF2-40B4-BE49-F238E27FC236}">
                <a16:creationId xmlns:a16="http://schemas.microsoft.com/office/drawing/2014/main" id="{E3C66297-049C-3288-F07A-6332D5A3CCB5}"/>
              </a:ext>
            </a:extLst>
          </p:cNvPr>
          <p:cNvSpPr/>
          <p:nvPr/>
        </p:nvSpPr>
        <p:spPr>
          <a:xfrm>
            <a:off x="9144001" y="5008982"/>
            <a:ext cx="9144000" cy="5278019"/>
          </a:xfrm>
          <a:custGeom>
            <a:avLst/>
            <a:gdLst/>
            <a:ahLst/>
            <a:cxnLst/>
            <a:rect l="l" t="t" r="r" b="b"/>
            <a:pathLst>
              <a:path w="9861550" h="5009515">
                <a:moveTo>
                  <a:pt x="9861433" y="5008981"/>
                </a:moveTo>
                <a:lnTo>
                  <a:pt x="0" y="5008981"/>
                </a:lnTo>
                <a:lnTo>
                  <a:pt x="0" y="0"/>
                </a:lnTo>
                <a:lnTo>
                  <a:pt x="9861433" y="0"/>
                </a:lnTo>
                <a:lnTo>
                  <a:pt x="9861433" y="5008981"/>
                </a:lnTo>
                <a:close/>
              </a:path>
            </a:pathLst>
          </a:custGeom>
          <a:solidFill>
            <a:srgbClr val="2650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D2CCA-2A15-E8B9-D1A3-34E5906D0223}"/>
              </a:ext>
            </a:extLst>
          </p:cNvPr>
          <p:cNvSpPr txBox="1"/>
          <p:nvPr/>
        </p:nvSpPr>
        <p:spPr>
          <a:xfrm>
            <a:off x="9143705" y="377940"/>
            <a:ext cx="9317716" cy="531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9979"/>
              </a:lnSpc>
              <a:buSzPts val="4800"/>
            </a:pPr>
            <a:r>
              <a:rPr lang="en-US" sz="4000" b="1" dirty="0">
                <a:solidFill>
                  <a:srgbClr val="9933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Evidence-based Processes to achieve</a:t>
            </a:r>
            <a:endParaRPr lang="en-US" sz="4000" b="1" spc="275" dirty="0">
              <a:solidFill>
                <a:srgbClr val="BE4A1D"/>
              </a:solidFill>
              <a:latin typeface="Urbanist Black" panose="020B0604020202020204" charset="0"/>
              <a:ea typeface="Urbanist Black" panose="020B0604020202020204" charset="0"/>
              <a:cs typeface="Urbanist Black" panose="020B0604020202020204" charset="0"/>
            </a:endParaRPr>
          </a:p>
          <a:p>
            <a:pPr>
              <a:lnSpc>
                <a:spcPct val="139979"/>
              </a:lnSpc>
              <a:buSzPts val="4800"/>
            </a:pPr>
            <a:r>
              <a:rPr lang="en-US" sz="4000" b="1" spc="275" dirty="0">
                <a:solidFill>
                  <a:srgbClr val="993300"/>
                </a:solidFill>
                <a:latin typeface="Urbanist Black" panose="020B0604020202020204" charset="0"/>
                <a:ea typeface="Urbanist Black" panose="020B0604020202020204" charset="0"/>
                <a:cs typeface="Urbanist Black" panose="020B0604020202020204" charset="0"/>
              </a:rPr>
              <a:t>Transdisciplinary Instruction…</a:t>
            </a:r>
            <a:r>
              <a:rPr lang="en-US" sz="4000" b="1" spc="275" dirty="0">
                <a:solidFill>
                  <a:schemeClr val="tx1"/>
                </a:solidFill>
                <a:latin typeface="Urbanist Black" panose="020B0604020202020204" charset="0"/>
                <a:ea typeface="Urbanist Black" panose="020B0604020202020204" charset="0"/>
                <a:cs typeface="Urbanist Black" panose="020B0604020202020204" charset="0"/>
              </a:rPr>
              <a:t>Team-based and connected to real-life problems/issues</a:t>
            </a:r>
            <a:endParaRPr lang="en-US" sz="4000" b="1" dirty="0">
              <a:solidFill>
                <a:schemeClr val="tx1"/>
              </a:solidFill>
              <a:latin typeface="Urbanist Black" panose="020B0604020202020204" charset="0"/>
              <a:ea typeface="Urbanist Black" panose="020B0604020202020204" charset="0"/>
              <a:cs typeface="Urbanist Black" panose="020B0604020202020204" charset="0"/>
            </a:endParaRPr>
          </a:p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4"/>
              <a:buFont typeface="Arial"/>
              <a:buNone/>
            </a:pPr>
            <a:endParaRPr lang="en-US" sz="4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group of women holding up a large piece of paper&#10;&#10;Description automatically generated">
            <a:extLst>
              <a:ext uri="{FF2B5EF4-FFF2-40B4-BE49-F238E27FC236}">
                <a16:creationId xmlns:a16="http://schemas.microsoft.com/office/drawing/2014/main" id="{6D2D844D-D5CA-247E-005E-88DAEF4739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46" r="1" b="24095"/>
          <a:stretch/>
        </p:blipFill>
        <p:spPr>
          <a:xfrm>
            <a:off x="0" y="5008981"/>
            <a:ext cx="12825577" cy="5278019"/>
          </a:xfrm>
          <a:custGeom>
            <a:avLst/>
            <a:gdLst/>
            <a:ahLst/>
            <a:cxnLst/>
            <a:rect l="l" t="t" r="r" b="b"/>
            <a:pathLst>
              <a:path w="7215401" h="2969304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5840224" y="2969304"/>
                </a:lnTo>
                <a:lnTo>
                  <a:pt x="0" y="2969304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390250-F93B-C332-249C-D7159C0834F0}"/>
              </a:ext>
            </a:extLst>
          </p:cNvPr>
          <p:cNvSpPr txBox="1"/>
          <p:nvPr/>
        </p:nvSpPr>
        <p:spPr>
          <a:xfrm>
            <a:off x="12432890" y="7152968"/>
            <a:ext cx="50439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Ex:  STEM Model Schools, Egypt Post- Arab Spring</a:t>
            </a:r>
          </a:p>
        </p:txBody>
      </p:sp>
    </p:spTree>
    <p:extLst>
      <p:ext uri="{BB962C8B-B14F-4D97-AF65-F5344CB8AC3E}">
        <p14:creationId xmlns:p14="http://schemas.microsoft.com/office/powerpoint/2010/main" val="97899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13"/>
          <p:cNvCxnSpPr>
            <a:cxnSpLocks/>
          </p:cNvCxnSpPr>
          <p:nvPr/>
        </p:nvCxnSpPr>
        <p:spPr>
          <a:xfrm>
            <a:off x="744794" y="5056206"/>
            <a:ext cx="5092548" cy="0"/>
          </a:xfrm>
          <a:prstGeom prst="straightConnector1">
            <a:avLst/>
          </a:prstGeom>
          <a:noFill/>
          <a:ln w="47625" cap="flat" cmpd="sng">
            <a:solidFill>
              <a:srgbClr val="BE4B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13"/>
          <p:cNvSpPr/>
          <p:nvPr/>
        </p:nvSpPr>
        <p:spPr>
          <a:xfrm>
            <a:off x="1028700" y="8964963"/>
            <a:ext cx="560442" cy="586674"/>
          </a:xfrm>
          <a:custGeom>
            <a:avLst/>
            <a:gdLst/>
            <a:ahLst/>
            <a:cxnLst/>
            <a:rect l="l" t="t" r="r" b="b"/>
            <a:pathLst>
              <a:path w="560442" h="586674" extrusionOk="0">
                <a:moveTo>
                  <a:pt x="0" y="0"/>
                </a:moveTo>
                <a:lnTo>
                  <a:pt x="560442" y="0"/>
                </a:lnTo>
                <a:lnTo>
                  <a:pt x="560442" y="586674"/>
                </a:lnTo>
                <a:lnTo>
                  <a:pt x="0" y="586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Google Shape;162;p13"/>
          <p:cNvSpPr/>
          <p:nvPr/>
        </p:nvSpPr>
        <p:spPr>
          <a:xfrm>
            <a:off x="14755045" y="738105"/>
            <a:ext cx="2504255" cy="2536798"/>
          </a:xfrm>
          <a:custGeom>
            <a:avLst/>
            <a:gdLst/>
            <a:ahLst/>
            <a:cxnLst/>
            <a:rect l="l" t="t" r="r" b="b"/>
            <a:pathLst>
              <a:path w="2504255" h="2536798" extrusionOk="0">
                <a:moveTo>
                  <a:pt x="0" y="0"/>
                </a:moveTo>
                <a:lnTo>
                  <a:pt x="2504255" y="0"/>
                </a:lnTo>
                <a:lnTo>
                  <a:pt x="2504255" y="2536798"/>
                </a:lnTo>
                <a:lnTo>
                  <a:pt x="0" y="2536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015" t="-2137" r="-201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p13"/>
          <p:cNvSpPr txBox="1"/>
          <p:nvPr/>
        </p:nvSpPr>
        <p:spPr>
          <a:xfrm>
            <a:off x="1729783" y="9179349"/>
            <a:ext cx="14828433" cy="1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i="0" u="none" strike="noStrike" cap="none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www.tiesteach.org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744795" y="868780"/>
            <a:ext cx="14010250" cy="404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4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37"/>
              <a:buFont typeface="Arial"/>
              <a:buNone/>
            </a:pPr>
            <a:r>
              <a:rPr lang="en-US" sz="5337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Teachers who have real impact:  Requires a complete global system shift where countries learn from each other.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1729808" y="9482299"/>
            <a:ext cx="148284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lang="en-US" sz="1340" b="1" dirty="0">
                <a:solidFill>
                  <a:srgbClr val="275162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All Rights Reserved, February 2025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13 Traits of Great STEM Teachers | STEM by Design">
            <a:extLst>
              <a:ext uri="{FF2B5EF4-FFF2-40B4-BE49-F238E27FC236}">
                <a16:creationId xmlns:a16="http://schemas.microsoft.com/office/drawing/2014/main" id="{59E0B777-AC56-4459-D7DF-DC4849235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8881" y="5115910"/>
            <a:ext cx="7671883" cy="511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134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BCC0738EEC624F9D360D04B21611FC" ma:contentTypeVersion="10" ma:contentTypeDescription="Create a new document." ma:contentTypeScope="" ma:versionID="828c8b696262cda1c9af7fd274053cec">
  <xsd:schema xmlns:xsd="http://www.w3.org/2001/XMLSchema" xmlns:xs="http://www.w3.org/2001/XMLSchema" xmlns:p="http://schemas.microsoft.com/office/2006/metadata/properties" xmlns:ns2="26245dc9-15bf-457b-b339-f3659df4a572" targetNamespace="http://schemas.microsoft.com/office/2006/metadata/properties" ma:root="true" ma:fieldsID="1df3aaf0a6983d0b626bd5c79f38f90f" ns2:_="">
    <xsd:import namespace="26245dc9-15bf-457b-b339-f3659df4a5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245dc9-15bf-457b-b339-f3659df4a5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73B34D-AD05-4650-9CCE-1AAD6ABDD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FA9AF9-DCD7-4DA4-BD8E-61BB53427D4F}"/>
</file>

<file path=customXml/itemProps3.xml><?xml version="1.0" encoding="utf-8"?>
<ds:datastoreItem xmlns:ds="http://schemas.openxmlformats.org/officeDocument/2006/customXml" ds:itemID="{953BC70E-2AD8-4247-943B-0A3A775280AF}">
  <ds:schemaRefs>
    <ds:schemaRef ds:uri="http://schemas.openxmlformats.org/package/2006/metadata/core-properties"/>
    <ds:schemaRef ds:uri="http://schemas.microsoft.com/office/2006/documentManagement/types"/>
    <ds:schemaRef ds:uri="d06f905d-ac68-45a7-a99c-409c980bffe5"/>
    <ds:schemaRef ds:uri="http://purl.org/dc/elements/1.1/"/>
    <ds:schemaRef ds:uri="http://schemas.microsoft.com/office/2006/metadata/properties"/>
    <ds:schemaRef ds:uri="44ba044f-3155-4cdf-9c5d-aa3518b55bbc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5079</TotalTime>
  <Words>458</Words>
  <Application>Microsoft Office PowerPoint</Application>
  <PresentationFormat>Custom</PresentationFormat>
  <Paragraphs>66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Urbanist Black</vt:lpstr>
      <vt:lpstr>Trebuchet MS</vt:lpstr>
      <vt:lpstr>Calibri</vt:lpstr>
      <vt:lpstr>Arial</vt:lpstr>
      <vt:lpstr>Urbanist</vt:lpstr>
      <vt:lpstr>Office Theme</vt:lpstr>
      <vt:lpstr>PowerPoint Presentation</vt:lpstr>
      <vt:lpstr>Proposal for this session:  We propose the next guidelines for this topic, as a shift from "no alternative" towards a strategic approach to defining the profile of the future lecturer/teacher: 1. Openness to recruiting individuals from diverse backgrounds (including industry) not as a temporary solution but as part of systemic strategy. 2. Looking at team-based models in which teachers/lecturers with different strengths complement one another, rather than full uniformity.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janmorrison</dc:creator>
  <cp:lastModifiedBy>Jan Morrison</cp:lastModifiedBy>
  <cp:revision>119</cp:revision>
  <dcterms:created xsi:type="dcterms:W3CDTF">2006-08-16T00:00:00Z</dcterms:created>
  <dcterms:modified xsi:type="dcterms:W3CDTF">2026-01-18T19:32:38Z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0x0101004DBCC0738EEC624F9D360D04B21611FC</vt:lpwstr>
  </property>
</Properties>
</file>